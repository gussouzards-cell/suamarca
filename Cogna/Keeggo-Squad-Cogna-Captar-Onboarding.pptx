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2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4"/>
  </p:sldMasterIdLst>
  <p:notesMasterIdLst>
    <p:notesMasterId r:id="rId39"/>
  </p:notesMasterIdLst>
  <p:sldIdLst>
    <p:sldId id="361" r:id="rId5"/>
    <p:sldId id="1233" r:id="rId6"/>
    <p:sldId id="2147472463" r:id="rId7"/>
    <p:sldId id="2147472462" r:id="rId8"/>
    <p:sldId id="2147472464" r:id="rId9"/>
    <p:sldId id="2147472465" r:id="rId10"/>
    <p:sldId id="2147472442" r:id="rId11"/>
    <p:sldId id="383" r:id="rId12"/>
    <p:sldId id="296" r:id="rId13"/>
    <p:sldId id="2147472444" r:id="rId14"/>
    <p:sldId id="2147472447" r:id="rId15"/>
    <p:sldId id="2147472458" r:id="rId16"/>
    <p:sldId id="372" r:id="rId17"/>
    <p:sldId id="2147472459" r:id="rId18"/>
    <p:sldId id="2147472460" r:id="rId19"/>
    <p:sldId id="2147472461" r:id="rId20"/>
    <p:sldId id="373" r:id="rId21"/>
    <p:sldId id="269" r:id="rId22"/>
    <p:sldId id="297" r:id="rId23"/>
    <p:sldId id="2147197248" r:id="rId24"/>
    <p:sldId id="276" r:id="rId25"/>
    <p:sldId id="528" r:id="rId26"/>
    <p:sldId id="278" r:id="rId27"/>
    <p:sldId id="2147472445" r:id="rId28"/>
    <p:sldId id="2147472448" r:id="rId29"/>
    <p:sldId id="1210" r:id="rId30"/>
    <p:sldId id="1211" r:id="rId31"/>
    <p:sldId id="2147472449" r:id="rId32"/>
    <p:sldId id="374" r:id="rId33"/>
    <p:sldId id="1212" r:id="rId34"/>
    <p:sldId id="1228" r:id="rId35"/>
    <p:sldId id="2147472454" r:id="rId36"/>
    <p:sldId id="2147472441" r:id="rId37"/>
    <p:sldId id="2147472450" r:id="rId38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0"/>
      <p:bold r:id="rId41"/>
      <p:italic r:id="rId42"/>
      <p:boldItalic r:id="rId43"/>
    </p:embeddedFont>
    <p:embeddedFont>
      <p:font typeface="Poppins" panose="00000500000000000000" pitchFamily="2" charset="0"/>
      <p:regular r:id="rId44"/>
      <p:bold r:id="rId45"/>
      <p:italic r:id="rId46"/>
      <p:boldItalic r:id="rId47"/>
    </p:embeddedFont>
    <p:embeddedFont>
      <p:font typeface="Poppins SemiBold" panose="00000700000000000000" pitchFamily="2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A5A5"/>
    <a:srgbClr val="E6005E"/>
    <a:srgbClr val="20B6B3"/>
    <a:srgbClr val="E62263"/>
    <a:srgbClr val="2CB3AF"/>
    <a:srgbClr val="666666"/>
    <a:srgbClr val="7F7F7F"/>
    <a:srgbClr val="FCDC8C"/>
    <a:srgbClr val="F9B81B"/>
    <a:srgbClr val="83E1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40" d="100"/>
          <a:sy n="140" d="100"/>
        </p:scale>
        <p:origin x="774" y="4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5.fntdata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8" Type="http://schemas.openxmlformats.org/officeDocument/2006/relationships/slide" Target="slides/slide4.xml"/><Relationship Id="rId51" Type="http://schemas.openxmlformats.org/officeDocument/2006/relationships/font" Target="fonts/font12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7.fntdata"/><Relationship Id="rId20" Type="http://schemas.openxmlformats.org/officeDocument/2006/relationships/slide" Target="slides/slide16.xml"/><Relationship Id="rId41" Type="http://schemas.openxmlformats.org/officeDocument/2006/relationships/font" Target="fonts/font2.fntdata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0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Planilha1!$B$1</c:f>
              <c:strCache>
                <c:ptCount val="1"/>
                <c:pt idx="0">
                  <c:v>Entrega x Bugs x Saiu da PI</c:v>
                </c:pt>
              </c:strCache>
            </c:strRef>
          </c:tx>
          <c:dPt>
            <c:idx val="0"/>
            <c:bubble3D val="0"/>
            <c:explosion val="1"/>
            <c:spPr>
              <a:solidFill>
                <a:srgbClr val="20B6B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521-4871-A776-40349F8525BC}"/>
              </c:ext>
            </c:extLst>
          </c:dPt>
          <c:dPt>
            <c:idx val="1"/>
            <c:bubble3D val="0"/>
            <c:spPr>
              <a:solidFill>
                <a:srgbClr val="E6005E">
                  <a:alpha val="75000"/>
                </a:srgb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521-4871-A776-40349F8525BC}"/>
              </c:ext>
            </c:extLst>
          </c:dPt>
          <c:dPt>
            <c:idx val="2"/>
            <c:bubble3D val="0"/>
            <c:explosion val="13"/>
            <c:spPr>
              <a:solidFill>
                <a:srgbClr val="E6005E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521-4871-A776-40349F8525BC}"/>
              </c:ext>
            </c:extLst>
          </c:dPt>
          <c:dPt>
            <c:idx val="3"/>
            <c:bubble3D val="0"/>
            <c:explosion val="10"/>
            <c:spPr>
              <a:solidFill>
                <a:srgbClr val="A5A5A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5521-4871-A776-40349F8525BC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521-4871-A776-40349F8525BC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521-4871-A776-40349F8525BC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5521-4871-A776-40349F8525BC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5521-4871-A776-40349F8525B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spc="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Planilha1!$A$2:$A$5</c:f>
              <c:strCache>
                <c:ptCount val="2"/>
                <c:pt idx="0">
                  <c:v>Refinado Tech</c:v>
                </c:pt>
                <c:pt idx="1">
                  <c:v>Não Refinado Tech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15</c:v>
                </c:pt>
                <c:pt idx="1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521-4871-A776-40349F8525BC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Planilha1!$B$1</c:f>
              <c:strCache>
                <c:ptCount val="1"/>
                <c:pt idx="0">
                  <c:v>Entrega x Bugs x Saiu da PI</c:v>
                </c:pt>
              </c:strCache>
            </c:strRef>
          </c:tx>
          <c:dPt>
            <c:idx val="0"/>
            <c:bubble3D val="0"/>
            <c:explosion val="1"/>
            <c:spPr>
              <a:solidFill>
                <a:srgbClr val="20B6B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521-4871-A776-40349F8525BC}"/>
              </c:ext>
            </c:extLst>
          </c:dPt>
          <c:dPt>
            <c:idx val="1"/>
            <c:bubble3D val="0"/>
            <c:spPr>
              <a:solidFill>
                <a:srgbClr val="FFC000">
                  <a:alpha val="75000"/>
                </a:srgb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521-4871-A776-40349F8525BC}"/>
              </c:ext>
            </c:extLst>
          </c:dPt>
          <c:dPt>
            <c:idx val="2"/>
            <c:bubble3D val="0"/>
            <c:spPr>
              <a:solidFill>
                <a:srgbClr val="E6005E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521-4871-A776-40349F8525BC}"/>
              </c:ext>
            </c:extLst>
          </c:dPt>
          <c:dPt>
            <c:idx val="3"/>
            <c:bubble3D val="0"/>
            <c:spPr>
              <a:solidFill>
                <a:srgbClr val="A5A5A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5521-4871-A776-40349F8525BC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521-4871-A776-40349F8525BC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521-4871-A776-40349F8525BC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5521-4871-A776-40349F8525BC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5521-4871-A776-40349F8525B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spc="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Planilha1!$A$2:$A$5</c:f>
              <c:strCache>
                <c:ptCount val="4"/>
                <c:pt idx="0">
                  <c:v>Pro-code</c:v>
                </c:pt>
                <c:pt idx="1">
                  <c:v>Funcional</c:v>
                </c:pt>
                <c:pt idx="2">
                  <c:v>Dynamics</c:v>
                </c:pt>
                <c:pt idx="3">
                  <c:v>Canvas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22</c:v>
                </c:pt>
                <c:pt idx="1">
                  <c:v>5</c:v>
                </c:pt>
                <c:pt idx="2">
                  <c:v>14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521-4871-A776-40349F8525BC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6" name="Google Shape;1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82950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418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0472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1390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6579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0462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3280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0" name="Google Shape;1320;p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1342014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b538ab4eb2_0_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b538ab4eb2_0_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b538ab4eb2_0_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b538ab4eb2_0_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16104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43fffc83d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g43fffc83d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98869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43fffc83d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g43fffc83d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19384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47623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05786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35672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14609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09724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b538ab4eb2_0_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b538ab4eb2_0_8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157E0A-F321-48DC-AF94-681D4DCF344D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76587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626749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31591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43709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11538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43fffc83d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g43fffc83d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74773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43fffc83d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g43fffc83d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33536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91706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4" name="Google Shape;1074;p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2335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64412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8940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43559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3933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lide de título">
  <p:cSld name="5_Slide de títul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827584" y="2830796"/>
            <a:ext cx="43920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B4CD"/>
              </a:buClr>
              <a:buSzPts val="1700"/>
              <a:buNone/>
              <a:defRPr sz="1700" b="1">
                <a:solidFill>
                  <a:srgbClr val="00B4C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2"/>
          </p:nvPr>
        </p:nvSpPr>
        <p:spPr>
          <a:xfrm>
            <a:off x="827584" y="3118504"/>
            <a:ext cx="4392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5D6C"/>
              </a:buClr>
              <a:buSzPts val="1100"/>
              <a:buNone/>
              <a:defRPr sz="1100">
                <a:solidFill>
                  <a:srgbClr val="005D6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Layout Personalizado">
  <p:cSld name="5_Layout Personalizado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641056" y="664148"/>
            <a:ext cx="7459500" cy="7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B4CD"/>
              </a:buClr>
              <a:buSzPts val="4000"/>
              <a:buNone/>
              <a:defRPr sz="4000" b="1">
                <a:solidFill>
                  <a:srgbClr val="00B4C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2"/>
          </p:nvPr>
        </p:nvSpPr>
        <p:spPr>
          <a:xfrm>
            <a:off x="641054" y="1466814"/>
            <a:ext cx="7459500" cy="23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55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58220"/>
              </a:buClr>
              <a:buSzPts val="2000"/>
              <a:buFont typeface="Arial"/>
              <a:buChar char="•"/>
              <a:defRPr sz="2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abeçalho da Seção">
  <p:cSld name="1_Cabeçalho da Seçã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285751" y="1225686"/>
            <a:ext cx="8572499" cy="366302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 marL="385754" indent="-172637">
              <a:buFont typeface="Graphik" panose="020B0503030202060203" pitchFamily="34" charset="0"/>
              <a:buChar char="–"/>
              <a:defRPr sz="1200"/>
            </a:lvl3pPr>
            <a:lvl5pPr marL="642922" indent="-133347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pt-BR"/>
              <a:t>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420D9DAD-4E53-4B31-8B30-B73DD2969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285750"/>
            <a:ext cx="8572500" cy="74295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pt-BR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722890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F62578E-39C5-4B97-8C0B-FF6D29E6BA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9933521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9" imgH="367" progId="TCLayout.ActiveDocument.1">
                  <p:embed/>
                </p:oleObj>
              </mc:Choice>
              <mc:Fallback>
                <p:oleObj name="think-cell Slide" r:id="rId3" imgW="389" imgH="36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F62578E-39C5-4B97-8C0B-FF6D29E6BA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9EAD9AED-9987-4CE9-B39D-B256B46200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285616"/>
            <a:ext cx="8572500" cy="375182"/>
          </a:xfrm>
        </p:spPr>
        <p:txBody>
          <a:bodyPr vert="horz">
            <a:normAutofit/>
          </a:bodyPr>
          <a:lstStyle>
            <a:lvl1pPr>
              <a:defRPr sz="3000" b="1" cap="none">
                <a:latin typeface="Graphik Black" panose="020B0A03030202060203" pitchFamily="34" charset="0"/>
              </a:defRPr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A632553-1FB6-49CB-B4AE-067BE0AE1D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5750" y="689079"/>
            <a:ext cx="8572500" cy="37518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1500" b="0" cap="none">
                <a:solidFill>
                  <a:srgbClr val="460073"/>
                </a:solidFill>
                <a:latin typeface="Graphik" panose="020B0503030202060203" pitchFamily="34" charset="0"/>
              </a:defRPr>
            </a:lvl1pPr>
          </a:lstStyle>
          <a:p>
            <a:pPr lvl="0"/>
            <a:r>
              <a:rPr lang="en-US"/>
              <a:t>Place subheading here</a:t>
            </a:r>
          </a:p>
        </p:txBody>
      </p:sp>
    </p:spTree>
    <p:extLst>
      <p:ext uri="{BB962C8B-B14F-4D97-AF65-F5344CB8AC3E}">
        <p14:creationId xmlns:p14="http://schemas.microsoft.com/office/powerpoint/2010/main" val="2396651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76" r:id="rId15"/>
    <p:sldLayoutId id="2147483677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13" Type="http://schemas.openxmlformats.org/officeDocument/2006/relationships/image" Target="../media/image15.jfif"/><Relationship Id="rId18" Type="http://schemas.openxmlformats.org/officeDocument/2006/relationships/image" Target="../media/image20.jfif"/><Relationship Id="rId3" Type="http://schemas.openxmlformats.org/officeDocument/2006/relationships/image" Target="../media/image4.png"/><Relationship Id="rId21" Type="http://schemas.openxmlformats.org/officeDocument/2006/relationships/image" Target="../media/image23.png"/><Relationship Id="rId7" Type="http://schemas.openxmlformats.org/officeDocument/2006/relationships/image" Target="../media/image9.jfif"/><Relationship Id="rId12" Type="http://schemas.openxmlformats.org/officeDocument/2006/relationships/image" Target="../media/image14.jfif"/><Relationship Id="rId17" Type="http://schemas.openxmlformats.org/officeDocument/2006/relationships/image" Target="../media/image19.jfif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8.jfif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fif"/><Relationship Id="rId11" Type="http://schemas.openxmlformats.org/officeDocument/2006/relationships/image" Target="../media/image13.jfif"/><Relationship Id="rId5" Type="http://schemas.openxmlformats.org/officeDocument/2006/relationships/image" Target="../media/image7.jfif"/><Relationship Id="rId15" Type="http://schemas.openxmlformats.org/officeDocument/2006/relationships/image" Target="../media/image17.jfif"/><Relationship Id="rId10" Type="http://schemas.openxmlformats.org/officeDocument/2006/relationships/image" Target="../media/image12.jfif"/><Relationship Id="rId19" Type="http://schemas.openxmlformats.org/officeDocument/2006/relationships/image" Target="../media/image21.jfif"/><Relationship Id="rId4" Type="http://schemas.openxmlformats.org/officeDocument/2006/relationships/image" Target="../media/image5.png"/><Relationship Id="rId9" Type="http://schemas.openxmlformats.org/officeDocument/2006/relationships/image" Target="../media/image11.jfif"/><Relationship Id="rId14" Type="http://schemas.openxmlformats.org/officeDocument/2006/relationships/image" Target="../media/image16.jfi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microsoft.com/office/2007/relationships/hdphoto" Target="../media/hdphoto1.wdp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13" Type="http://schemas.openxmlformats.org/officeDocument/2006/relationships/image" Target="../media/image4.pn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32.emf"/><Relationship Id="rId12" Type="http://schemas.openxmlformats.org/officeDocument/2006/relationships/image" Target="../media/image37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2.xml"/><Relationship Id="rId6" Type="http://schemas.openxmlformats.org/officeDocument/2006/relationships/image" Target="../media/image31.emf"/><Relationship Id="rId11" Type="http://schemas.openxmlformats.org/officeDocument/2006/relationships/image" Target="../media/image36.emf"/><Relationship Id="rId5" Type="http://schemas.openxmlformats.org/officeDocument/2006/relationships/image" Target="../media/image2.emf"/><Relationship Id="rId10" Type="http://schemas.openxmlformats.org/officeDocument/2006/relationships/image" Target="../media/image35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34.emf"/><Relationship Id="rId1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38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13" Type="http://schemas.openxmlformats.org/officeDocument/2006/relationships/image" Target="../media/image15.jfif"/><Relationship Id="rId18" Type="http://schemas.openxmlformats.org/officeDocument/2006/relationships/image" Target="../media/image20.jfif"/><Relationship Id="rId3" Type="http://schemas.openxmlformats.org/officeDocument/2006/relationships/image" Target="../media/image4.png"/><Relationship Id="rId7" Type="http://schemas.openxmlformats.org/officeDocument/2006/relationships/image" Target="../media/image9.jfif"/><Relationship Id="rId12" Type="http://schemas.openxmlformats.org/officeDocument/2006/relationships/image" Target="../media/image14.jfif"/><Relationship Id="rId17" Type="http://schemas.openxmlformats.org/officeDocument/2006/relationships/image" Target="../media/image19.jfif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18.jf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fif"/><Relationship Id="rId11" Type="http://schemas.openxmlformats.org/officeDocument/2006/relationships/image" Target="../media/image13.jfif"/><Relationship Id="rId5" Type="http://schemas.openxmlformats.org/officeDocument/2006/relationships/image" Target="../media/image7.jfif"/><Relationship Id="rId15" Type="http://schemas.openxmlformats.org/officeDocument/2006/relationships/image" Target="../media/image17.jfif"/><Relationship Id="rId10" Type="http://schemas.openxmlformats.org/officeDocument/2006/relationships/image" Target="../media/image12.jfif"/><Relationship Id="rId19" Type="http://schemas.openxmlformats.org/officeDocument/2006/relationships/image" Target="../media/image21.jfif"/><Relationship Id="rId4" Type="http://schemas.openxmlformats.org/officeDocument/2006/relationships/image" Target="../media/image5.png"/><Relationship Id="rId9" Type="http://schemas.openxmlformats.org/officeDocument/2006/relationships/image" Target="../media/image11.jfif"/><Relationship Id="rId14" Type="http://schemas.openxmlformats.org/officeDocument/2006/relationships/image" Target="../media/image16.jfi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/>
          <p:nvPr/>
        </p:nvSpPr>
        <p:spPr>
          <a:xfrm>
            <a:off x="-34075" y="-34075"/>
            <a:ext cx="9242400" cy="5257200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7675" y="632874"/>
            <a:ext cx="4649474" cy="30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30"/>
          <p:cNvPicPr preferRelativeResize="0"/>
          <p:nvPr/>
        </p:nvPicPr>
        <p:blipFill rotWithShape="1">
          <a:blip r:embed="rId4">
            <a:alphaModFix/>
          </a:blip>
          <a:srcRect l="20819" t="23407" r="13392" b="24668"/>
          <a:stretch/>
        </p:blipFill>
        <p:spPr>
          <a:xfrm>
            <a:off x="4930400" y="-34075"/>
            <a:ext cx="4277925" cy="5257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30"/>
          <p:cNvPicPr preferRelativeResize="0"/>
          <p:nvPr/>
        </p:nvPicPr>
        <p:blipFill rotWithShape="1">
          <a:blip r:embed="rId5">
            <a:alphaModFix/>
          </a:blip>
          <a:srcRect t="24905" r="28443" b="19248"/>
          <a:stretch/>
        </p:blipFill>
        <p:spPr>
          <a:xfrm>
            <a:off x="4881675" y="-34075"/>
            <a:ext cx="4326651" cy="525719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0"/>
          <p:cNvSpPr txBox="1"/>
          <p:nvPr/>
        </p:nvSpPr>
        <p:spPr>
          <a:xfrm>
            <a:off x="1559025" y="3228850"/>
            <a:ext cx="3634200" cy="7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dirty="0" err="1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Onboarding</a:t>
            </a:r>
            <a:r>
              <a:rPr lang="pt-BR" sz="1800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pt-BR" sz="1800" dirty="0" err="1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Squad</a:t>
            </a:r>
            <a:r>
              <a:rPr lang="pt-BR" sz="1800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Captar</a:t>
            </a:r>
            <a:endParaRPr sz="1800" b="0" i="0" u="none" strike="noStrike" cap="none" dirty="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53" name="Google Shape;153;p30"/>
          <p:cNvSpPr txBox="1"/>
          <p:nvPr/>
        </p:nvSpPr>
        <p:spPr>
          <a:xfrm>
            <a:off x="1500725" y="551750"/>
            <a:ext cx="1610100" cy="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Cogna</a:t>
            </a:r>
            <a:endParaRPr sz="1200" b="0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p30"/>
          <p:cNvSpPr txBox="1"/>
          <p:nvPr/>
        </p:nvSpPr>
        <p:spPr>
          <a:xfrm>
            <a:off x="1559025" y="4600450"/>
            <a:ext cx="1017314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Setembro/23</a:t>
            </a:r>
            <a:endParaRPr sz="900" b="0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p30"/>
          <p:cNvSpPr txBox="1"/>
          <p:nvPr/>
        </p:nvSpPr>
        <p:spPr>
          <a:xfrm>
            <a:off x="3997425" y="4600450"/>
            <a:ext cx="9213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keeggo.com</a:t>
            </a:r>
            <a:endParaRPr sz="9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" name="Google Shape;156;p30"/>
          <p:cNvSpPr/>
          <p:nvPr/>
        </p:nvSpPr>
        <p:spPr>
          <a:xfrm>
            <a:off x="1437700" y="526925"/>
            <a:ext cx="1722900" cy="4539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9803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9"/>
          <p:cNvSpPr/>
          <p:nvPr/>
        </p:nvSpPr>
        <p:spPr>
          <a:xfrm>
            <a:off x="75" y="0"/>
            <a:ext cx="9144000" cy="5279700"/>
          </a:xfrm>
          <a:prstGeom prst="rect">
            <a:avLst/>
          </a:prstGeom>
          <a:solidFill>
            <a:srgbClr val="E622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9"/>
          <p:cNvSpPr txBox="1"/>
          <p:nvPr/>
        </p:nvSpPr>
        <p:spPr>
          <a:xfrm>
            <a:off x="2325900" y="2357475"/>
            <a:ext cx="5147700" cy="7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 dirty="0" err="1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Sobre</a:t>
            </a:r>
            <a:r>
              <a:rPr lang="en-US" sz="3000" b="0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a </a:t>
            </a:r>
            <a:r>
              <a:rPr lang="en-US" sz="3000" b="0" i="0" u="none" strike="noStrike" cap="none" dirty="0" err="1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Cogna</a:t>
            </a:r>
            <a:r>
              <a:rPr lang="en-US" sz="3000" b="0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3000" b="0" i="0" u="none" strike="noStrike" cap="none" dirty="0" err="1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Educação</a:t>
            </a:r>
            <a:endParaRPr lang="pt-BR" sz="3000" b="0" i="0" u="none" strike="noStrike" cap="none" dirty="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70" name="Google Shape;270;p39"/>
          <p:cNvSpPr txBox="1"/>
          <p:nvPr/>
        </p:nvSpPr>
        <p:spPr>
          <a:xfrm>
            <a:off x="1128900" y="2001192"/>
            <a:ext cx="1414500" cy="7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6000" b="0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01.</a:t>
            </a:r>
            <a:endParaRPr sz="6000" b="0" i="0" u="none" strike="noStrike" cap="none" dirty="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67597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0"/>
          <p:cNvSpPr txBox="1"/>
          <p:nvPr/>
        </p:nvSpPr>
        <p:spPr>
          <a:xfrm>
            <a:off x="719650" y="2480375"/>
            <a:ext cx="2550832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Quem é a</a:t>
            </a:r>
            <a:endParaRPr lang="pt-BR" sz="3600" b="1" dirty="0"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600" b="1" i="0" u="none" strike="noStrike" cap="none" dirty="0" err="1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Cogna</a:t>
            </a:r>
            <a:r>
              <a:rPr lang="pt-BR" sz="3600" b="1" i="0" u="none" strike="noStrike" cap="none" dirty="0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sz="6000" b="1" i="0" u="none" strike="noStrike" cap="none" dirty="0"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8" name="Google Shape;278;p40"/>
          <p:cNvSpPr/>
          <p:nvPr/>
        </p:nvSpPr>
        <p:spPr>
          <a:xfrm>
            <a:off x="75" y="0"/>
            <a:ext cx="9144000" cy="1458600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40"/>
          <p:cNvPicPr preferRelativeResize="0"/>
          <p:nvPr/>
        </p:nvPicPr>
        <p:blipFill rotWithShape="1">
          <a:blip r:embed="rId3">
            <a:alphaModFix/>
          </a:blip>
          <a:srcRect l="21517" t="24732" r="29576" b="51975"/>
          <a:stretch/>
        </p:blipFill>
        <p:spPr>
          <a:xfrm>
            <a:off x="0" y="0"/>
            <a:ext cx="1967075" cy="1458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0"/>
          <p:cNvPicPr preferRelativeResize="0"/>
          <p:nvPr/>
        </p:nvPicPr>
        <p:blipFill rotWithShape="1">
          <a:blip r:embed="rId4">
            <a:alphaModFix/>
          </a:blip>
          <a:srcRect l="33367" t="30255" r="20562" b="44692"/>
          <a:stretch/>
        </p:blipFill>
        <p:spPr>
          <a:xfrm>
            <a:off x="0" y="0"/>
            <a:ext cx="1722774" cy="145859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75;p40">
            <a:extLst>
              <a:ext uri="{FF2B5EF4-FFF2-40B4-BE49-F238E27FC236}">
                <a16:creationId xmlns:a16="http://schemas.microsoft.com/office/drawing/2014/main" id="{91F37C74-E61C-4936-8144-FB2F1C2EAB22}"/>
              </a:ext>
            </a:extLst>
          </p:cNvPr>
          <p:cNvSpPr txBox="1"/>
          <p:nvPr/>
        </p:nvSpPr>
        <p:spPr>
          <a:xfrm>
            <a:off x="3270482" y="1708599"/>
            <a:ext cx="5568718" cy="325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Com mais de 50 anos de tradição e pioneirismo, a </a:t>
            </a:r>
            <a:r>
              <a:rPr lang="pt-BR" sz="1050" b="0" i="0" u="none" strike="noStrike" cap="none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Cogna</a:t>
            </a:r>
            <a:r>
              <a:rPr lang="pt-BR" sz="105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Educação  é uma companhia brasileira e umas das principais organizações educacionais do mundo. Formada pelas instituições Kroton, </a:t>
            </a:r>
            <a:r>
              <a:rPr lang="pt-BR" sz="1050" b="0" i="0" u="none" strike="noStrike" cap="none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Platos</a:t>
            </a:r>
            <a:r>
              <a:rPr lang="pt-BR" sz="105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, Saber e Vasta Educação / Somos Educação , a holding oferece soluções e serviços tanto para o seguimento B2B como para o B2C.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05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Pautada pela inovação e pelo propósito de transformar a vida das pessoas por meio de uma educação de qualidade, a companhia atende mais de 2,4 milhões de estudantes de todo o Brasil, da Educação Básica ao Ensino Superior, sendo 1 milhão de alunos atendidos diariamente e 1,4 milhões de estudantes por meio de escolas e instituições de ensino parcerias. Suas atividades e programas socias geram um impacto de mais de R$ 431,1 milhões à sociedade, ajudando a transformar as comunidades onde está inserida.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1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79553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50"/>
          <p:cNvPicPr preferRelativeResize="0"/>
          <p:nvPr/>
        </p:nvPicPr>
        <p:blipFill rotWithShape="1">
          <a:blip r:embed="rId3">
            <a:alphaModFix/>
          </a:blip>
          <a:srcRect l="51116" t="24733" b="19256"/>
          <a:stretch/>
        </p:blipFill>
        <p:spPr>
          <a:xfrm>
            <a:off x="875" y="0"/>
            <a:ext cx="1966199" cy="350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0"/>
          <p:cNvPicPr preferRelativeResize="0"/>
          <p:nvPr/>
        </p:nvPicPr>
        <p:blipFill rotWithShape="1">
          <a:blip r:embed="rId4">
            <a:alphaModFix/>
          </a:blip>
          <a:srcRect l="33371" t="30255" r="19103"/>
          <a:stretch/>
        </p:blipFill>
        <p:spPr>
          <a:xfrm>
            <a:off x="0" y="0"/>
            <a:ext cx="1777125" cy="4060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8C47797-6F68-247F-C3D9-842733669F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0685" y="-400050"/>
            <a:ext cx="6462630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40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9"/>
          <p:cNvSpPr/>
          <p:nvPr/>
        </p:nvSpPr>
        <p:spPr>
          <a:xfrm>
            <a:off x="75" y="0"/>
            <a:ext cx="9144000" cy="5279700"/>
          </a:xfrm>
          <a:prstGeom prst="rect">
            <a:avLst/>
          </a:prstGeom>
          <a:solidFill>
            <a:srgbClr val="E622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9"/>
          <p:cNvSpPr txBox="1"/>
          <p:nvPr/>
        </p:nvSpPr>
        <p:spPr>
          <a:xfrm>
            <a:off x="2325900" y="2357475"/>
            <a:ext cx="5147700" cy="7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Squad </a:t>
            </a:r>
            <a:r>
              <a:rPr lang="en-US" sz="3000" b="0" i="0" u="none" strike="noStrike" cap="none" dirty="0" err="1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Captar</a:t>
            </a:r>
            <a:endParaRPr lang="pt-BR" sz="3000" b="0" i="0" u="none" strike="noStrike" cap="none" dirty="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70" name="Google Shape;270;p39"/>
          <p:cNvSpPr txBox="1"/>
          <p:nvPr/>
        </p:nvSpPr>
        <p:spPr>
          <a:xfrm>
            <a:off x="1128900" y="2001192"/>
            <a:ext cx="1414500" cy="7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6000" b="0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02.</a:t>
            </a:r>
            <a:endParaRPr sz="6000" b="0" i="0" u="none" strike="noStrike" cap="none" dirty="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850436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50"/>
          <p:cNvPicPr preferRelativeResize="0"/>
          <p:nvPr/>
        </p:nvPicPr>
        <p:blipFill rotWithShape="1">
          <a:blip r:embed="rId3">
            <a:alphaModFix/>
          </a:blip>
          <a:srcRect l="51116" t="24733" b="19256"/>
          <a:stretch/>
        </p:blipFill>
        <p:spPr>
          <a:xfrm>
            <a:off x="875" y="0"/>
            <a:ext cx="1966199" cy="350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0"/>
          <p:cNvPicPr preferRelativeResize="0"/>
          <p:nvPr/>
        </p:nvPicPr>
        <p:blipFill rotWithShape="1">
          <a:blip r:embed="rId4">
            <a:alphaModFix/>
          </a:blip>
          <a:srcRect l="33371" t="30255" r="19103"/>
          <a:stretch/>
        </p:blipFill>
        <p:spPr>
          <a:xfrm>
            <a:off x="0" y="0"/>
            <a:ext cx="1777125" cy="4060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037EFDA-9CB4-4C97-C68D-80FE55092E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4780" y="1131838"/>
            <a:ext cx="792881" cy="792881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6512BDE-D0BA-8D79-09EA-57D08159FC1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02447" y="1131838"/>
            <a:ext cx="792881" cy="792881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2CDD2E6-75EC-593E-6D21-8C014B33525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540114" y="1131839"/>
            <a:ext cx="792881" cy="792881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7CB4024B-12D6-EF3D-0D4D-382E68D70A4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907572" y="2560442"/>
            <a:ext cx="792881" cy="792881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6E8290DA-65F4-62F2-E232-796FEE5F3BE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069906" y="2560442"/>
            <a:ext cx="792881" cy="792881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9492658A-CAF9-408B-7308-94F28E969DF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232240" y="2560441"/>
            <a:ext cx="792881" cy="792881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12E3C8AA-58EA-A969-9FFA-BEEDC285B46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394574" y="2537202"/>
            <a:ext cx="792881" cy="792881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1309A614-220A-2F76-B101-6F7496384F4B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556908" y="2531667"/>
            <a:ext cx="792881" cy="792881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C698581F-D5CC-2D8F-E822-963A03119257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719242" y="2531667"/>
            <a:ext cx="792881" cy="792881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1E7D8ACA-D5C8-C8FE-D2FB-9C5548386B4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912486" y="3934380"/>
            <a:ext cx="792881" cy="792881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A6CD5410-E3A9-90B7-74BD-F7C2A18BD290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3074820" y="3934380"/>
            <a:ext cx="792881" cy="792881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30D6F247-E1D9-8C42-BFE2-8B91F0E24F42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4237154" y="3934380"/>
            <a:ext cx="792881" cy="792881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285E17F3-F58E-F226-8E6A-B85562DF5E9F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5397850" y="3934379"/>
            <a:ext cx="792881" cy="792881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DB163CC0-4BAC-D376-A60C-DF93FD6CD9EB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6558546" y="3934378"/>
            <a:ext cx="792881" cy="792881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3212BCA9-028B-F8B8-5F9F-DF5AFF970822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7719242" y="3934377"/>
            <a:ext cx="792881" cy="792881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sp>
        <p:nvSpPr>
          <p:cNvPr id="28" name="Google Shape;275;p40">
            <a:extLst>
              <a:ext uri="{FF2B5EF4-FFF2-40B4-BE49-F238E27FC236}">
                <a16:creationId xmlns:a16="http://schemas.microsoft.com/office/drawing/2014/main" id="{9DE96076-173A-E058-E9D4-8D44A7B08E97}"/>
              </a:ext>
            </a:extLst>
          </p:cNvPr>
          <p:cNvSpPr txBox="1"/>
          <p:nvPr/>
        </p:nvSpPr>
        <p:spPr>
          <a:xfrm>
            <a:off x="1768140" y="3297255"/>
            <a:ext cx="1001868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pt-BR" sz="7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ilippe</a:t>
            </a: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Saba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Delivery Manager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" name="Google Shape;275;p40">
            <a:extLst>
              <a:ext uri="{FF2B5EF4-FFF2-40B4-BE49-F238E27FC236}">
                <a16:creationId xmlns:a16="http://schemas.microsoft.com/office/drawing/2014/main" id="{000C2B71-C219-EF8F-893D-A1DACDD7218F}"/>
              </a:ext>
            </a:extLst>
          </p:cNvPr>
          <p:cNvSpPr txBox="1"/>
          <p:nvPr/>
        </p:nvSpPr>
        <p:spPr>
          <a:xfrm>
            <a:off x="2946010" y="3297254"/>
            <a:ext cx="1001868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Nathan Santos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Product</a:t>
            </a: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Manager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Google Shape;275;p40">
            <a:extLst>
              <a:ext uri="{FF2B5EF4-FFF2-40B4-BE49-F238E27FC236}">
                <a16:creationId xmlns:a16="http://schemas.microsoft.com/office/drawing/2014/main" id="{C1BD5CB8-5F26-DD73-ACEA-F23342D07FBA}"/>
              </a:ext>
            </a:extLst>
          </p:cNvPr>
          <p:cNvSpPr txBox="1"/>
          <p:nvPr/>
        </p:nvSpPr>
        <p:spPr>
          <a:xfrm>
            <a:off x="4108344" y="3297254"/>
            <a:ext cx="1001868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Philipe Mendonça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Tech Lead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Google Shape;275;p40">
            <a:extLst>
              <a:ext uri="{FF2B5EF4-FFF2-40B4-BE49-F238E27FC236}">
                <a16:creationId xmlns:a16="http://schemas.microsoft.com/office/drawing/2014/main" id="{698E2B21-C112-3F90-FC60-2D8DD5C1D984}"/>
              </a:ext>
            </a:extLst>
          </p:cNvPr>
          <p:cNvSpPr txBox="1"/>
          <p:nvPr/>
        </p:nvSpPr>
        <p:spPr>
          <a:xfrm>
            <a:off x="5208774" y="3297254"/>
            <a:ext cx="1179507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Nathalia Nascimento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Funcional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" name="Google Shape;275;p40">
            <a:extLst>
              <a:ext uri="{FF2B5EF4-FFF2-40B4-BE49-F238E27FC236}">
                <a16:creationId xmlns:a16="http://schemas.microsoft.com/office/drawing/2014/main" id="{CD0595E0-FD27-B9C0-5823-B2FA714B55D6}"/>
              </a:ext>
            </a:extLst>
          </p:cNvPr>
          <p:cNvSpPr txBox="1"/>
          <p:nvPr/>
        </p:nvSpPr>
        <p:spPr>
          <a:xfrm>
            <a:off x="6428612" y="3297254"/>
            <a:ext cx="1001868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Igor Wagner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Dynamics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" name="Google Shape;275;p40">
            <a:extLst>
              <a:ext uri="{FF2B5EF4-FFF2-40B4-BE49-F238E27FC236}">
                <a16:creationId xmlns:a16="http://schemas.microsoft.com/office/drawing/2014/main" id="{41318E2A-C808-3739-CF99-373C80EC6127}"/>
              </a:ext>
            </a:extLst>
          </p:cNvPr>
          <p:cNvSpPr txBox="1"/>
          <p:nvPr/>
        </p:nvSpPr>
        <p:spPr>
          <a:xfrm>
            <a:off x="7588795" y="3297253"/>
            <a:ext cx="1001868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Kallebe</a:t>
            </a: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Monteiro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DevOps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" name="Google Shape;275;p40">
            <a:extLst>
              <a:ext uri="{FF2B5EF4-FFF2-40B4-BE49-F238E27FC236}">
                <a16:creationId xmlns:a16="http://schemas.microsoft.com/office/drawing/2014/main" id="{DAE2C65E-F4AB-ED77-2EF2-D7B51705F4AE}"/>
              </a:ext>
            </a:extLst>
          </p:cNvPr>
          <p:cNvSpPr txBox="1"/>
          <p:nvPr/>
        </p:nvSpPr>
        <p:spPr>
          <a:xfrm>
            <a:off x="1768140" y="4699967"/>
            <a:ext cx="1001868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Gustavo Souza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Dynamics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" name="Google Shape;275;p40">
            <a:extLst>
              <a:ext uri="{FF2B5EF4-FFF2-40B4-BE49-F238E27FC236}">
                <a16:creationId xmlns:a16="http://schemas.microsoft.com/office/drawing/2014/main" id="{068BE534-B4D5-77AD-3802-9DE1058ECBEF}"/>
              </a:ext>
            </a:extLst>
          </p:cNvPr>
          <p:cNvSpPr txBox="1"/>
          <p:nvPr/>
        </p:nvSpPr>
        <p:spPr>
          <a:xfrm>
            <a:off x="2946010" y="4699966"/>
            <a:ext cx="1001868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TBD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Dynamics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" name="Google Shape;275;p40">
            <a:extLst>
              <a:ext uri="{FF2B5EF4-FFF2-40B4-BE49-F238E27FC236}">
                <a16:creationId xmlns:a16="http://schemas.microsoft.com/office/drawing/2014/main" id="{7C8E3564-FC91-D294-818A-748379D932AC}"/>
              </a:ext>
            </a:extLst>
          </p:cNvPr>
          <p:cNvSpPr txBox="1"/>
          <p:nvPr/>
        </p:nvSpPr>
        <p:spPr>
          <a:xfrm>
            <a:off x="4108344" y="4699966"/>
            <a:ext cx="1001868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David Mendonça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Pro-</a:t>
            </a:r>
            <a:r>
              <a:rPr lang="pt-BR" sz="7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code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" name="Google Shape;275;p40">
            <a:extLst>
              <a:ext uri="{FF2B5EF4-FFF2-40B4-BE49-F238E27FC236}">
                <a16:creationId xmlns:a16="http://schemas.microsoft.com/office/drawing/2014/main" id="{27E43C04-0DD6-072B-C324-FD562E80543A}"/>
              </a:ext>
            </a:extLst>
          </p:cNvPr>
          <p:cNvSpPr txBox="1"/>
          <p:nvPr/>
        </p:nvSpPr>
        <p:spPr>
          <a:xfrm>
            <a:off x="5208774" y="4699966"/>
            <a:ext cx="1179507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Guilherme Brito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Pro-</a:t>
            </a:r>
            <a:r>
              <a:rPr lang="pt-BR" sz="7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code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275;p40">
            <a:extLst>
              <a:ext uri="{FF2B5EF4-FFF2-40B4-BE49-F238E27FC236}">
                <a16:creationId xmlns:a16="http://schemas.microsoft.com/office/drawing/2014/main" id="{F5192553-F4AD-A9FA-C3DB-C26229CF5608}"/>
              </a:ext>
            </a:extLst>
          </p:cNvPr>
          <p:cNvSpPr txBox="1"/>
          <p:nvPr/>
        </p:nvSpPr>
        <p:spPr>
          <a:xfrm>
            <a:off x="6428612" y="4699966"/>
            <a:ext cx="1001868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Angelica Lemos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QA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275;p40">
            <a:extLst>
              <a:ext uri="{FF2B5EF4-FFF2-40B4-BE49-F238E27FC236}">
                <a16:creationId xmlns:a16="http://schemas.microsoft.com/office/drawing/2014/main" id="{3BEB3353-768B-5AE4-51D5-DDA4CFD8764B}"/>
              </a:ext>
            </a:extLst>
          </p:cNvPr>
          <p:cNvSpPr txBox="1"/>
          <p:nvPr/>
        </p:nvSpPr>
        <p:spPr>
          <a:xfrm>
            <a:off x="7588795" y="4699965"/>
            <a:ext cx="1001868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Amax</a:t>
            </a: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Alves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DevOps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" name="Google Shape;275;p40">
            <a:extLst>
              <a:ext uri="{FF2B5EF4-FFF2-40B4-BE49-F238E27FC236}">
                <a16:creationId xmlns:a16="http://schemas.microsoft.com/office/drawing/2014/main" id="{220F9EE1-B8A8-EED2-7ADA-748EC3042669}"/>
              </a:ext>
            </a:extLst>
          </p:cNvPr>
          <p:cNvSpPr txBox="1"/>
          <p:nvPr/>
        </p:nvSpPr>
        <p:spPr>
          <a:xfrm>
            <a:off x="3316037" y="1879934"/>
            <a:ext cx="1249411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Alline </a:t>
            </a:r>
            <a:r>
              <a:rPr lang="en-US" sz="7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Leite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Gerente </a:t>
            </a:r>
            <a:r>
              <a:rPr lang="pt-BR" sz="7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Sr</a:t>
            </a: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Comercial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" name="Google Shape;275;p40">
            <a:extLst>
              <a:ext uri="{FF2B5EF4-FFF2-40B4-BE49-F238E27FC236}">
                <a16:creationId xmlns:a16="http://schemas.microsoft.com/office/drawing/2014/main" id="{56009B12-59F5-A0AF-76D1-81BDCA33C52A}"/>
              </a:ext>
            </a:extLst>
          </p:cNvPr>
          <p:cNvSpPr txBox="1"/>
          <p:nvPr/>
        </p:nvSpPr>
        <p:spPr>
          <a:xfrm>
            <a:off x="4336979" y="1879933"/>
            <a:ext cx="1565310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Bruna </a:t>
            </a:r>
            <a:r>
              <a:rPr lang="pt-BR" sz="7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Nicolleti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Coordenadora Comercial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" name="Google Shape;275;p40">
            <a:extLst>
              <a:ext uri="{FF2B5EF4-FFF2-40B4-BE49-F238E27FC236}">
                <a16:creationId xmlns:a16="http://schemas.microsoft.com/office/drawing/2014/main" id="{F673BDC7-F68C-5D4E-3956-9AB6F12C7BB7}"/>
              </a:ext>
            </a:extLst>
          </p:cNvPr>
          <p:cNvSpPr txBox="1"/>
          <p:nvPr/>
        </p:nvSpPr>
        <p:spPr>
          <a:xfrm>
            <a:off x="5795946" y="1879933"/>
            <a:ext cx="1001868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Romeu Santiago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Product</a:t>
            </a: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Manager 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" name="Google Shape;685;gb538ab4eb2_0_746">
            <a:extLst>
              <a:ext uri="{FF2B5EF4-FFF2-40B4-BE49-F238E27FC236}">
                <a16:creationId xmlns:a16="http://schemas.microsoft.com/office/drawing/2014/main" id="{1D94C318-6F68-E438-4804-A183E4FAAC2D}"/>
              </a:ext>
            </a:extLst>
          </p:cNvPr>
          <p:cNvSpPr txBox="1"/>
          <p:nvPr/>
        </p:nvSpPr>
        <p:spPr>
          <a:xfrm>
            <a:off x="4336979" y="150575"/>
            <a:ext cx="1387401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E62263"/>
                </a:solidFill>
                <a:latin typeface="Poppins"/>
                <a:ea typeface="Poppins SemiBold"/>
                <a:cs typeface="Poppins"/>
                <a:sym typeface="Poppins"/>
              </a:rPr>
              <a:t>Nosso Time</a:t>
            </a:r>
            <a:endParaRPr sz="1600" i="0" u="none" strike="noStrike" cap="none" dirty="0">
              <a:solidFill>
                <a:srgbClr val="E6226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EDC47BD-923A-9417-EA49-C5A023336146}"/>
              </a:ext>
            </a:extLst>
          </p:cNvPr>
          <p:cNvSpPr/>
          <p:nvPr/>
        </p:nvSpPr>
        <p:spPr>
          <a:xfrm>
            <a:off x="3069906" y="880281"/>
            <a:ext cx="4074697" cy="1511253"/>
          </a:xfrm>
          <a:prstGeom prst="roundRec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A19461A7-3EA7-B4A7-CEB9-B6847E6A5A6E}"/>
              </a:ext>
            </a:extLst>
          </p:cNvPr>
          <p:cNvSpPr/>
          <p:nvPr/>
        </p:nvSpPr>
        <p:spPr>
          <a:xfrm>
            <a:off x="1630907" y="2501739"/>
            <a:ext cx="7130956" cy="2598119"/>
          </a:xfrm>
          <a:prstGeom prst="roundRec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2FF6B3E-C378-6A08-F386-62FB92E9CFA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79640" y="1323820"/>
            <a:ext cx="810089" cy="81008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9185280-2919-AB18-BDDE-122CEE1D3EE7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588598" y="3564742"/>
            <a:ext cx="810089" cy="43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573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9"/>
          <p:cNvSpPr/>
          <p:nvPr/>
        </p:nvSpPr>
        <p:spPr>
          <a:xfrm>
            <a:off x="75" y="0"/>
            <a:ext cx="9144000" cy="5279700"/>
          </a:xfrm>
          <a:prstGeom prst="rect">
            <a:avLst/>
          </a:prstGeom>
          <a:solidFill>
            <a:srgbClr val="E622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9"/>
          <p:cNvSpPr txBox="1"/>
          <p:nvPr/>
        </p:nvSpPr>
        <p:spPr>
          <a:xfrm>
            <a:off x="2325900" y="2357475"/>
            <a:ext cx="5147700" cy="7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0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Nosso Produto.</a:t>
            </a:r>
            <a:endParaRPr sz="3000" b="0" i="0" u="none" strike="noStrike" cap="none" dirty="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70" name="Google Shape;270;p39"/>
          <p:cNvSpPr txBox="1"/>
          <p:nvPr/>
        </p:nvSpPr>
        <p:spPr>
          <a:xfrm>
            <a:off x="1128900" y="2001192"/>
            <a:ext cx="1414500" cy="7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6000" b="0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03.</a:t>
            </a:r>
            <a:endParaRPr sz="6000" b="0" i="0" u="none" strike="noStrike" cap="none" dirty="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510784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128"/>
          <p:cNvSpPr/>
          <p:nvPr/>
        </p:nvSpPr>
        <p:spPr>
          <a:xfrm>
            <a:off x="-34075" y="-34075"/>
            <a:ext cx="9242400" cy="5257200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3" name="Google Shape;1323;p128"/>
          <p:cNvPicPr preferRelativeResize="0"/>
          <p:nvPr/>
        </p:nvPicPr>
        <p:blipFill rotWithShape="1">
          <a:blip r:embed="rId3">
            <a:alphaModFix/>
          </a:blip>
          <a:srcRect l="18838" t="23406" r="13397" b="24672"/>
          <a:stretch/>
        </p:blipFill>
        <p:spPr>
          <a:xfrm>
            <a:off x="-532300" y="-34075"/>
            <a:ext cx="4406624" cy="5257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4" name="Google Shape;1324;p128"/>
          <p:cNvPicPr preferRelativeResize="0"/>
          <p:nvPr/>
        </p:nvPicPr>
        <p:blipFill rotWithShape="1">
          <a:blip r:embed="rId4">
            <a:alphaModFix/>
          </a:blip>
          <a:srcRect l="19614" t="24904" r="23810" b="19248"/>
          <a:stretch/>
        </p:blipFill>
        <p:spPr>
          <a:xfrm>
            <a:off x="733550" y="-34075"/>
            <a:ext cx="3420724" cy="5257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5" name="Google Shape;1325;p1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59162" y="292830"/>
            <a:ext cx="2359821" cy="1547598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p128"/>
          <p:cNvSpPr txBox="1"/>
          <p:nvPr/>
        </p:nvSpPr>
        <p:spPr>
          <a:xfrm>
            <a:off x="4888400" y="2124525"/>
            <a:ext cx="3193800" cy="7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Obrigado!</a:t>
            </a:r>
            <a:endParaRPr sz="3600" b="0" i="0" u="none" strike="noStrike" cap="non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327" name="Google Shape;1327;p128"/>
          <p:cNvSpPr txBox="1"/>
          <p:nvPr/>
        </p:nvSpPr>
        <p:spPr>
          <a:xfrm>
            <a:off x="4887037" y="4600450"/>
            <a:ext cx="9213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keeggo.com</a:t>
            </a:r>
            <a:endParaRPr sz="9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3548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b538ab4eb2_0_746"/>
          <p:cNvSpPr/>
          <p:nvPr/>
        </p:nvSpPr>
        <p:spPr>
          <a:xfrm>
            <a:off x="-34075" y="-34075"/>
            <a:ext cx="4485000" cy="5257200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0" name="Google Shape;680;gb538ab4eb2_0_746"/>
          <p:cNvPicPr preferRelativeResize="0"/>
          <p:nvPr/>
        </p:nvPicPr>
        <p:blipFill rotWithShape="1">
          <a:blip r:embed="rId3">
            <a:alphaModFix/>
          </a:blip>
          <a:srcRect l="48765" t="21148" b="26927"/>
          <a:stretch/>
        </p:blipFill>
        <p:spPr>
          <a:xfrm>
            <a:off x="-34075" y="-34075"/>
            <a:ext cx="3331976" cy="5257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gb538ab4eb2_0_746"/>
          <p:cNvPicPr preferRelativeResize="0"/>
          <p:nvPr/>
        </p:nvPicPr>
        <p:blipFill rotWithShape="1">
          <a:blip r:embed="rId4">
            <a:alphaModFix/>
          </a:blip>
          <a:srcRect l="38423" t="22472" r="20015" b="21679"/>
          <a:stretch/>
        </p:blipFill>
        <p:spPr>
          <a:xfrm>
            <a:off x="-34075" y="-34075"/>
            <a:ext cx="2512876" cy="5257198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gb538ab4eb2_0_746"/>
          <p:cNvSpPr txBox="1"/>
          <p:nvPr/>
        </p:nvSpPr>
        <p:spPr>
          <a:xfrm>
            <a:off x="2173875" y="731550"/>
            <a:ext cx="37278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100" b="1" i="0" u="none" strike="noStrike" cap="none" dirty="0">
                <a:solidFill>
                  <a:schemeClr val="lt1"/>
                </a:solidFill>
                <a:latin typeface="Poppins"/>
                <a:ea typeface="Poppins SemiBold"/>
                <a:cs typeface="Poppins"/>
                <a:sym typeface="Poppins"/>
              </a:rPr>
              <a:t>Visão </a:t>
            </a:r>
            <a:r>
              <a:rPr lang="pt-BR" sz="2100" b="1" i="0" u="none" strike="noStrike" cap="none" dirty="0" err="1">
                <a:solidFill>
                  <a:schemeClr val="lt1"/>
                </a:solidFill>
                <a:latin typeface="Poppins"/>
                <a:ea typeface="Poppins SemiBold"/>
                <a:cs typeface="Poppins"/>
                <a:sym typeface="Poppins"/>
              </a:rPr>
              <a:t>Cogna</a:t>
            </a:r>
            <a:endParaRPr sz="2000" i="0" u="none" strike="noStrike" cap="none" dirty="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84" name="Google Shape;684;gb538ab4eb2_0_746"/>
          <p:cNvSpPr txBox="1"/>
          <p:nvPr/>
        </p:nvSpPr>
        <p:spPr>
          <a:xfrm>
            <a:off x="4777098" y="832543"/>
            <a:ext cx="3931065" cy="3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Poppins SemiBold"/>
              <a:buChar char="●"/>
            </a:pPr>
            <a:r>
              <a:rPr lang="pt-BR" sz="1200" dirty="0">
                <a:solidFill>
                  <a:srgbClr val="7F7F7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Baixo </a:t>
            </a:r>
            <a:r>
              <a:rPr lang="pt-BR" sz="1200" dirty="0" err="1">
                <a:solidFill>
                  <a:srgbClr val="7F7F7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throughput</a:t>
            </a:r>
            <a:r>
              <a:rPr lang="pt-BR" sz="1200" dirty="0">
                <a:solidFill>
                  <a:srgbClr val="7F7F7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de entregáveis.</a:t>
            </a: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Poppins SemiBold"/>
              <a:buChar char="●"/>
            </a:pPr>
            <a:endParaRPr sz="1200" dirty="0">
              <a:solidFill>
                <a:srgbClr val="7F7F7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Poppins SemiBold"/>
              <a:buChar char="●"/>
            </a:pPr>
            <a:r>
              <a:rPr lang="pt-BR" sz="1200" dirty="0">
                <a:solidFill>
                  <a:srgbClr val="7F7F7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Transbordo de histórias entre as sprints.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Poppins SemiBold"/>
              <a:buChar char="●"/>
            </a:pPr>
            <a:endParaRPr sz="1200" dirty="0">
              <a:solidFill>
                <a:srgbClr val="7F7F7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Poppins SemiBold"/>
              <a:buChar char="●"/>
            </a:pPr>
            <a:r>
              <a:rPr lang="pt-BR" sz="1200" dirty="0">
                <a:solidFill>
                  <a:srgbClr val="7F7F7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Baixa cobertura de testes.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Poppins SemiBold"/>
              <a:buChar char="●"/>
            </a:pPr>
            <a:endParaRPr sz="1200" dirty="0">
              <a:solidFill>
                <a:srgbClr val="7F7F7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Poppins SemiBold"/>
              <a:buChar char="●"/>
            </a:pPr>
            <a:r>
              <a:rPr lang="pt-BR" sz="1200" dirty="0">
                <a:solidFill>
                  <a:srgbClr val="7F7F7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Pouco domínio do processo de </a:t>
            </a:r>
            <a:r>
              <a:rPr lang="pt-BR" sz="1200" dirty="0" err="1">
                <a:solidFill>
                  <a:srgbClr val="7F7F7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DevOps</a:t>
            </a:r>
            <a:r>
              <a:rPr lang="pt-BR" sz="1200" dirty="0">
                <a:solidFill>
                  <a:srgbClr val="7F7F7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.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Poppins SemiBold"/>
              <a:buChar char="●"/>
            </a:pPr>
            <a:endParaRPr sz="1200" dirty="0">
              <a:solidFill>
                <a:srgbClr val="7F7F7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Poppins SemiBold"/>
              <a:buChar char="●"/>
            </a:pPr>
            <a:r>
              <a:rPr lang="pt-BR" sz="1200" dirty="0">
                <a:solidFill>
                  <a:srgbClr val="7F7F7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Alto esforço de retrabalho sobre o desenvolvimento.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Poppins SemiBold"/>
              <a:buChar char="●"/>
            </a:pPr>
            <a:endParaRPr lang="pt-BR" sz="1200" dirty="0">
              <a:solidFill>
                <a:srgbClr val="7F7F7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Poppins SemiBold"/>
              <a:buChar char="●"/>
            </a:pPr>
            <a:r>
              <a:rPr lang="pt-BR" sz="1200" dirty="0">
                <a:solidFill>
                  <a:srgbClr val="7F7F7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Alta incidência de bugs em produção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Poppins SemiBold"/>
              <a:buChar char="●"/>
            </a:pPr>
            <a:endParaRPr lang="pt-BR" sz="1200" dirty="0">
              <a:solidFill>
                <a:srgbClr val="7F7F7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Poppins SemiBold"/>
              <a:buChar char="●"/>
            </a:pPr>
            <a:r>
              <a:rPr lang="pt-BR" sz="1200" dirty="0" err="1">
                <a:solidFill>
                  <a:srgbClr val="7F7F7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Deploy</a:t>
            </a:r>
            <a:r>
              <a:rPr lang="pt-BR" sz="1200" dirty="0">
                <a:solidFill>
                  <a:srgbClr val="7F7F7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moroso.</a:t>
            </a:r>
            <a:endParaRPr sz="1200" dirty="0">
              <a:solidFill>
                <a:srgbClr val="7F7F7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85" name="Google Shape;685;gb538ab4eb2_0_746"/>
          <p:cNvSpPr txBox="1"/>
          <p:nvPr/>
        </p:nvSpPr>
        <p:spPr>
          <a:xfrm>
            <a:off x="5123324" y="338443"/>
            <a:ext cx="22095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E62263"/>
                </a:solidFill>
                <a:latin typeface="Poppins"/>
                <a:ea typeface="Poppins SemiBold"/>
                <a:cs typeface="Poppins"/>
                <a:sym typeface="Poppins"/>
              </a:rPr>
              <a:t>Desafios</a:t>
            </a:r>
            <a:endParaRPr sz="1600" i="0" u="none" strike="noStrike" cap="none" dirty="0">
              <a:solidFill>
                <a:srgbClr val="E6226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b538ab4eb2_0_746"/>
          <p:cNvSpPr/>
          <p:nvPr/>
        </p:nvSpPr>
        <p:spPr>
          <a:xfrm>
            <a:off x="-34075" y="-34075"/>
            <a:ext cx="4485000" cy="5257200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0" name="Google Shape;680;gb538ab4eb2_0_746"/>
          <p:cNvPicPr preferRelativeResize="0"/>
          <p:nvPr/>
        </p:nvPicPr>
        <p:blipFill rotWithShape="1">
          <a:blip r:embed="rId3">
            <a:alphaModFix/>
          </a:blip>
          <a:srcRect l="48765" t="21148" b="26927"/>
          <a:stretch/>
        </p:blipFill>
        <p:spPr>
          <a:xfrm>
            <a:off x="-34075" y="-34075"/>
            <a:ext cx="3331976" cy="5257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gb538ab4eb2_0_746"/>
          <p:cNvPicPr preferRelativeResize="0"/>
          <p:nvPr/>
        </p:nvPicPr>
        <p:blipFill rotWithShape="1">
          <a:blip r:embed="rId4">
            <a:alphaModFix/>
          </a:blip>
          <a:srcRect l="38423" t="22472" r="20015" b="21679"/>
          <a:stretch/>
        </p:blipFill>
        <p:spPr>
          <a:xfrm>
            <a:off x="-34075" y="-34075"/>
            <a:ext cx="2512876" cy="5257198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gb538ab4eb2_0_746"/>
          <p:cNvSpPr txBox="1"/>
          <p:nvPr/>
        </p:nvSpPr>
        <p:spPr>
          <a:xfrm>
            <a:off x="2173875" y="731550"/>
            <a:ext cx="37278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100" b="1" i="0" u="none" strike="noStrike" cap="none" dirty="0">
                <a:solidFill>
                  <a:schemeClr val="lt1"/>
                </a:solidFill>
                <a:latin typeface="Poppins"/>
                <a:ea typeface="Poppins SemiBold"/>
                <a:cs typeface="Poppins"/>
                <a:sym typeface="Poppins"/>
              </a:rPr>
              <a:t>Visão Time</a:t>
            </a:r>
            <a:endParaRPr sz="2000" i="0" u="none" strike="noStrike" cap="none" dirty="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84" name="Google Shape;684;gb538ab4eb2_0_746"/>
          <p:cNvSpPr txBox="1"/>
          <p:nvPr/>
        </p:nvSpPr>
        <p:spPr>
          <a:xfrm>
            <a:off x="4777098" y="832543"/>
            <a:ext cx="3931065" cy="3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Poppins SemiBold"/>
              <a:buChar char="●"/>
            </a:pPr>
            <a:r>
              <a:rPr lang="pt-BR" sz="1200" dirty="0">
                <a:solidFill>
                  <a:srgbClr val="7F7F7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Interferência nos objetivos das sprints.</a:t>
            </a: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Poppins SemiBold"/>
              <a:buChar char="●"/>
            </a:pPr>
            <a:endParaRPr lang="pt-BR" sz="1200" dirty="0">
              <a:solidFill>
                <a:srgbClr val="7F7F7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Poppins SemiBold"/>
              <a:buChar char="●"/>
            </a:pPr>
            <a:r>
              <a:rPr lang="pt-BR" sz="1200" dirty="0">
                <a:solidFill>
                  <a:srgbClr val="7F7F7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Processo de </a:t>
            </a:r>
            <a:r>
              <a:rPr lang="pt-BR" sz="1200" dirty="0" err="1">
                <a:solidFill>
                  <a:srgbClr val="7F7F7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deploy</a:t>
            </a:r>
            <a:r>
              <a:rPr lang="pt-BR" sz="1200" dirty="0">
                <a:solidFill>
                  <a:srgbClr val="7F7F7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manual.</a:t>
            </a: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Poppins SemiBold"/>
              <a:buChar char="●"/>
            </a:pPr>
            <a:endParaRPr lang="pt-BR" sz="1200" dirty="0">
              <a:solidFill>
                <a:srgbClr val="7F7F7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Poppins SemiBold"/>
              <a:buChar char="●"/>
            </a:pPr>
            <a:r>
              <a:rPr lang="pt-BR" sz="1200" dirty="0">
                <a:solidFill>
                  <a:srgbClr val="7F7F7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Dependência de desenvolvimento entre as </a:t>
            </a:r>
            <a:r>
              <a:rPr lang="pt-BR" sz="1200" dirty="0" err="1">
                <a:solidFill>
                  <a:srgbClr val="7F7F7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squads</a:t>
            </a:r>
            <a:r>
              <a:rPr lang="pt-BR" sz="1200" dirty="0">
                <a:solidFill>
                  <a:srgbClr val="7F7F7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.</a:t>
            </a: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Poppins SemiBold"/>
              <a:buChar char="●"/>
            </a:pPr>
            <a:endParaRPr lang="pt-BR" sz="1200" dirty="0">
              <a:solidFill>
                <a:srgbClr val="7F7F7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Poppins SemiBold"/>
              <a:buChar char="●"/>
            </a:pPr>
            <a:r>
              <a:rPr lang="pt-BR" sz="1200" dirty="0">
                <a:solidFill>
                  <a:srgbClr val="7F7F7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Geração de camadas ativas.</a:t>
            </a: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Poppins SemiBold"/>
              <a:buChar char="●"/>
            </a:pPr>
            <a:endParaRPr lang="pt-BR" sz="1200" dirty="0">
              <a:solidFill>
                <a:srgbClr val="7F7F7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Poppins SemiBold"/>
              <a:buChar char="●"/>
            </a:pPr>
            <a:r>
              <a:rPr lang="pt-BR" sz="1200" dirty="0">
                <a:solidFill>
                  <a:srgbClr val="7F7F7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Ausência de equalização dos ambientes.</a:t>
            </a: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Poppins SemiBold"/>
              <a:buChar char="●"/>
            </a:pPr>
            <a:endParaRPr lang="pt-BR" sz="1200" dirty="0">
              <a:solidFill>
                <a:srgbClr val="7F7F7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Poppins SemiBold"/>
              <a:buChar char="●"/>
            </a:pPr>
            <a:r>
              <a:rPr lang="pt-BR" sz="1200" dirty="0">
                <a:solidFill>
                  <a:srgbClr val="7F7F7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Ausência de controle de acessos.</a:t>
            </a: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Poppins SemiBold"/>
              <a:buChar char="●"/>
            </a:pPr>
            <a:endParaRPr lang="pt-BR" sz="1200" dirty="0">
              <a:solidFill>
                <a:srgbClr val="7F7F7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Poppins SemiBold"/>
              <a:buChar char="●"/>
            </a:pPr>
            <a:r>
              <a:rPr lang="pt-BR" sz="1200" dirty="0">
                <a:solidFill>
                  <a:srgbClr val="7F7F7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Ausência de atuação do time sobre as cerimônias de PI Planning.</a:t>
            </a:r>
            <a:endParaRPr sz="1200" dirty="0">
              <a:solidFill>
                <a:srgbClr val="7F7F7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85" name="Google Shape;685;gb538ab4eb2_0_746"/>
          <p:cNvSpPr txBox="1"/>
          <p:nvPr/>
        </p:nvSpPr>
        <p:spPr>
          <a:xfrm>
            <a:off x="5123324" y="338443"/>
            <a:ext cx="22095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E62263"/>
                </a:solidFill>
                <a:latin typeface="Poppins"/>
                <a:ea typeface="Poppins SemiBold"/>
                <a:cs typeface="Poppins"/>
                <a:sym typeface="Poppins"/>
              </a:rPr>
              <a:t>Desafios</a:t>
            </a:r>
            <a:endParaRPr sz="1600" i="0" u="none" strike="noStrike" cap="none" dirty="0">
              <a:solidFill>
                <a:srgbClr val="E6226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054215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B6B3"/>
        </a:solidFill>
        <a:effectLst/>
      </p:bgPr>
    </p:bg>
    <p:spTree>
      <p:nvGrpSpPr>
        <p:cNvPr id="1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p152"/>
          <p:cNvSpPr txBox="1"/>
          <p:nvPr/>
        </p:nvSpPr>
        <p:spPr>
          <a:xfrm>
            <a:off x="2903388" y="282326"/>
            <a:ext cx="3472516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pt-BR" sz="24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Capacity</a:t>
            </a:r>
            <a:r>
              <a:rPr lang="pt-BR" sz="2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Contratado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7BD1A91-D20D-F318-5790-ACE1B962A036}"/>
              </a:ext>
            </a:extLst>
          </p:cNvPr>
          <p:cNvSpPr txBox="1"/>
          <p:nvPr/>
        </p:nvSpPr>
        <p:spPr>
          <a:xfrm>
            <a:off x="3283194" y="1580199"/>
            <a:ext cx="25549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Squad</a:t>
            </a:r>
            <a:r>
              <a:rPr lang="pt-BR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Captar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696395E-4DB1-5705-CF36-23D91F60396A}"/>
              </a:ext>
            </a:extLst>
          </p:cNvPr>
          <p:cNvSpPr txBox="1"/>
          <p:nvPr/>
        </p:nvSpPr>
        <p:spPr>
          <a:xfrm>
            <a:off x="4250470" y="4435882"/>
            <a:ext cx="15877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Pro-code</a:t>
            </a:r>
            <a:endParaRPr lang="pt-BR" sz="1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4" name="Imagem 13" descr="Ícone&#10;&#10;Descrição gerada automaticamente">
            <a:extLst>
              <a:ext uri="{FF2B5EF4-FFF2-40B4-BE49-F238E27FC236}">
                <a16:creationId xmlns:a16="http://schemas.microsoft.com/office/drawing/2014/main" id="{1BD9EBC9-F705-ED86-A92F-34FCCFFB2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189" y="3914751"/>
            <a:ext cx="461665" cy="461665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EC6727F2-BCBC-613A-DADD-96AC267855DC}"/>
              </a:ext>
            </a:extLst>
          </p:cNvPr>
          <p:cNvSpPr txBox="1"/>
          <p:nvPr/>
        </p:nvSpPr>
        <p:spPr>
          <a:xfrm>
            <a:off x="4200617" y="2755838"/>
            <a:ext cx="8486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Funcional</a:t>
            </a:r>
          </a:p>
        </p:txBody>
      </p:sp>
      <p:pic>
        <p:nvPicPr>
          <p:cNvPr id="17" name="Imagem 16" descr="Ícone&#10;&#10;Descrição gerada automaticamente">
            <a:extLst>
              <a:ext uri="{FF2B5EF4-FFF2-40B4-BE49-F238E27FC236}">
                <a16:creationId xmlns:a16="http://schemas.microsoft.com/office/drawing/2014/main" id="{E9EC9815-F6F6-FD00-9359-D06E396C5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1855" y="2234707"/>
            <a:ext cx="461666" cy="461666"/>
          </a:xfrm>
          <a:prstGeom prst="rect">
            <a:avLst/>
          </a:prstGeom>
        </p:spPr>
      </p:pic>
      <p:pic>
        <p:nvPicPr>
          <p:cNvPr id="18" name="Imagem 17" descr="Ícone&#10;&#10;Descrição gerada automaticamente">
            <a:extLst>
              <a:ext uri="{FF2B5EF4-FFF2-40B4-BE49-F238E27FC236}">
                <a16:creationId xmlns:a16="http://schemas.microsoft.com/office/drawing/2014/main" id="{84FDA48A-D5AF-AD4B-1800-481DA87D6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942" y="3936502"/>
            <a:ext cx="461665" cy="461665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F410948E-C130-83C0-BCCD-E42609BFB132}"/>
              </a:ext>
            </a:extLst>
          </p:cNvPr>
          <p:cNvSpPr txBox="1"/>
          <p:nvPr/>
        </p:nvSpPr>
        <p:spPr>
          <a:xfrm>
            <a:off x="3501018" y="4428562"/>
            <a:ext cx="5427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QA</a:t>
            </a:r>
            <a:endParaRPr lang="pt-BR" sz="1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F1F6CBB-A4BD-4351-6B85-613CBEB4E2C6}"/>
              </a:ext>
            </a:extLst>
          </p:cNvPr>
          <p:cNvSpPr txBox="1"/>
          <p:nvPr/>
        </p:nvSpPr>
        <p:spPr>
          <a:xfrm>
            <a:off x="4698108" y="3515112"/>
            <a:ext cx="8486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Dynamics</a:t>
            </a:r>
            <a:endParaRPr lang="pt-BR" sz="1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5" name="Imagem 24" descr="Ícone&#10;&#10;Descrição gerada automaticamente">
            <a:extLst>
              <a:ext uri="{FF2B5EF4-FFF2-40B4-BE49-F238E27FC236}">
                <a16:creationId xmlns:a16="http://schemas.microsoft.com/office/drawing/2014/main" id="{3B31862D-39F3-9E89-A9F8-0EA790DA3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447" y="3023052"/>
            <a:ext cx="461665" cy="461665"/>
          </a:xfrm>
          <a:prstGeom prst="rect">
            <a:avLst/>
          </a:prstGeom>
        </p:spPr>
      </p:pic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979C29E6-10AE-BC3F-85F9-C9EB84CB299B}"/>
              </a:ext>
            </a:extLst>
          </p:cNvPr>
          <p:cNvSpPr/>
          <p:nvPr/>
        </p:nvSpPr>
        <p:spPr>
          <a:xfrm>
            <a:off x="3314107" y="2065901"/>
            <a:ext cx="2435290" cy="2795273"/>
          </a:xfrm>
          <a:prstGeom prst="roundRect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5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5D2CBFB-3699-57B6-5A01-8743738F2DAB}"/>
              </a:ext>
            </a:extLst>
          </p:cNvPr>
          <p:cNvSpPr txBox="1"/>
          <p:nvPr/>
        </p:nvSpPr>
        <p:spPr>
          <a:xfrm>
            <a:off x="3472425" y="3519231"/>
            <a:ext cx="8486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Dynamics</a:t>
            </a:r>
            <a:endParaRPr lang="pt-BR" sz="1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DF924095-8ED4-2982-C663-99549FFAD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835" y="3012560"/>
            <a:ext cx="461665" cy="46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06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B6B3"/>
        </a:solidFill>
        <a:effectLst/>
      </p:bgPr>
    </p:bg>
    <p:spTree>
      <p:nvGrpSpPr>
        <p:cNvPr id="1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p152"/>
          <p:cNvSpPr txBox="1"/>
          <p:nvPr/>
        </p:nvSpPr>
        <p:spPr>
          <a:xfrm>
            <a:off x="323285" y="227461"/>
            <a:ext cx="83274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Nova Estrutura</a:t>
            </a:r>
            <a:endParaRPr sz="24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7BD1A91-D20D-F318-5790-ACE1B962A036}"/>
              </a:ext>
            </a:extLst>
          </p:cNvPr>
          <p:cNvSpPr txBox="1"/>
          <p:nvPr/>
        </p:nvSpPr>
        <p:spPr>
          <a:xfrm>
            <a:off x="3630452" y="2383544"/>
            <a:ext cx="25549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Squad</a:t>
            </a:r>
            <a:r>
              <a:rPr lang="pt-BR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Captar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696395E-4DB1-5705-CF36-23D91F60396A}"/>
              </a:ext>
            </a:extLst>
          </p:cNvPr>
          <p:cNvSpPr txBox="1"/>
          <p:nvPr/>
        </p:nvSpPr>
        <p:spPr>
          <a:xfrm>
            <a:off x="5877885" y="3376658"/>
            <a:ext cx="1587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David</a:t>
            </a:r>
            <a:br>
              <a:rPr lang="pt-BR" sz="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(Pro-</a:t>
            </a:r>
            <a:r>
              <a:rPr lang="pt-BR" sz="8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code</a:t>
            </a:r>
            <a:r>
              <a:rPr lang="pt-BR" sz="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)</a:t>
            </a:r>
            <a:endParaRPr lang="pt-BR" sz="9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4" name="Imagem 13" descr="Ícone&#10;&#10;Descrição gerada automaticamente">
            <a:extLst>
              <a:ext uri="{FF2B5EF4-FFF2-40B4-BE49-F238E27FC236}">
                <a16:creationId xmlns:a16="http://schemas.microsoft.com/office/drawing/2014/main" id="{1BD9EBC9-F705-ED86-A92F-34FCCFFB2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604" y="2855526"/>
            <a:ext cx="461665" cy="461665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EC6727F2-BCBC-613A-DADD-96AC267855DC}"/>
              </a:ext>
            </a:extLst>
          </p:cNvPr>
          <p:cNvSpPr txBox="1"/>
          <p:nvPr/>
        </p:nvSpPr>
        <p:spPr>
          <a:xfrm>
            <a:off x="2561172" y="3376658"/>
            <a:ext cx="874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Nathalia</a:t>
            </a:r>
            <a:br>
              <a:rPr lang="pt-BR" sz="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(Funcional)</a:t>
            </a:r>
          </a:p>
        </p:txBody>
      </p:sp>
      <p:pic>
        <p:nvPicPr>
          <p:cNvPr id="17" name="Imagem 16" descr="Ícone&#10;&#10;Descrição gerada automaticamente">
            <a:extLst>
              <a:ext uri="{FF2B5EF4-FFF2-40B4-BE49-F238E27FC236}">
                <a16:creationId xmlns:a16="http://schemas.microsoft.com/office/drawing/2014/main" id="{E9EC9815-F6F6-FD00-9359-D06E396C5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1396" y="2855527"/>
            <a:ext cx="461666" cy="461666"/>
          </a:xfrm>
          <a:prstGeom prst="rect">
            <a:avLst/>
          </a:prstGeom>
        </p:spPr>
      </p:pic>
      <p:pic>
        <p:nvPicPr>
          <p:cNvPr id="18" name="Imagem 17" descr="Ícone&#10;&#10;Descrição gerada automaticamente">
            <a:extLst>
              <a:ext uri="{FF2B5EF4-FFF2-40B4-BE49-F238E27FC236}">
                <a16:creationId xmlns:a16="http://schemas.microsoft.com/office/drawing/2014/main" id="{84FDA48A-D5AF-AD4B-1800-481DA87D6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991" y="3775964"/>
            <a:ext cx="461665" cy="461665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F410948E-C130-83C0-BCCD-E42609BFB132}"/>
              </a:ext>
            </a:extLst>
          </p:cNvPr>
          <p:cNvSpPr txBox="1"/>
          <p:nvPr/>
        </p:nvSpPr>
        <p:spPr>
          <a:xfrm>
            <a:off x="3281067" y="4268024"/>
            <a:ext cx="542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Amax</a:t>
            </a:r>
            <a:br>
              <a:rPr lang="en-US" sz="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(QA)</a:t>
            </a:r>
            <a:endParaRPr lang="pt-BR" sz="8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09F6AA6-8F11-8E69-FF2B-A64947ED21EE}"/>
              </a:ext>
            </a:extLst>
          </p:cNvPr>
          <p:cNvSpPr txBox="1"/>
          <p:nvPr/>
        </p:nvSpPr>
        <p:spPr>
          <a:xfrm>
            <a:off x="2040337" y="1767462"/>
            <a:ext cx="13011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Nathan</a:t>
            </a:r>
            <a:br>
              <a:rPr lang="pt-BR" sz="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(PM)</a:t>
            </a:r>
            <a:endParaRPr lang="pt-BR" sz="1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Imagem 28" descr="Ícone&#10;&#10;Descrição gerada automaticamente">
            <a:extLst>
              <a:ext uri="{FF2B5EF4-FFF2-40B4-BE49-F238E27FC236}">
                <a16:creationId xmlns:a16="http://schemas.microsoft.com/office/drawing/2014/main" id="{784DF040-3C8F-F411-E176-04E9E1168D9A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90983" y="1315911"/>
            <a:ext cx="461665" cy="461665"/>
          </a:xfrm>
          <a:prstGeom prst="rect">
            <a:avLst/>
          </a:prstGeom>
        </p:spPr>
      </p:pic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517C66AA-E15C-5D87-15BF-2132DE69F0B2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22360" y="3792203"/>
            <a:ext cx="461665" cy="46166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D550DAA-F7C2-20DB-25FF-EFEEB6256332}"/>
              </a:ext>
            </a:extLst>
          </p:cNvPr>
          <p:cNvSpPr txBox="1"/>
          <p:nvPr/>
        </p:nvSpPr>
        <p:spPr>
          <a:xfrm>
            <a:off x="4454673" y="4279655"/>
            <a:ext cx="719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Angelica</a:t>
            </a:r>
            <a:br>
              <a:rPr lang="pt-BR" sz="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(QA)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F1F6CBB-A4BD-4351-6B85-613CBEB4E2C6}"/>
              </a:ext>
            </a:extLst>
          </p:cNvPr>
          <p:cNvSpPr txBox="1"/>
          <p:nvPr/>
        </p:nvSpPr>
        <p:spPr>
          <a:xfrm>
            <a:off x="4985566" y="3376658"/>
            <a:ext cx="892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TBD</a:t>
            </a:r>
            <a:br>
              <a:rPr lang="pt-BR" sz="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(Dynamics)</a:t>
            </a:r>
            <a:endParaRPr lang="pt-BR" sz="9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5" name="Imagem 24" descr="Ícone&#10;&#10;Descrição gerada automaticamente">
            <a:extLst>
              <a:ext uri="{FF2B5EF4-FFF2-40B4-BE49-F238E27FC236}">
                <a16:creationId xmlns:a16="http://schemas.microsoft.com/office/drawing/2014/main" id="{3B31862D-39F3-9E89-A9F8-0EA790DA3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869" y="2855526"/>
            <a:ext cx="461665" cy="461665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BE82A262-DBBE-D2AC-9B68-CDBF60F69A2E}"/>
              </a:ext>
            </a:extLst>
          </p:cNvPr>
          <p:cNvSpPr txBox="1"/>
          <p:nvPr/>
        </p:nvSpPr>
        <p:spPr>
          <a:xfrm>
            <a:off x="5487522" y="4268024"/>
            <a:ext cx="11659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Kallebe</a:t>
            </a:r>
            <a:br>
              <a:rPr lang="en-US" sz="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(DevOps)</a:t>
            </a:r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97AFB453-B4D7-6A67-1A51-1F5A3552B1C7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03590" y="3775964"/>
            <a:ext cx="461665" cy="461665"/>
          </a:xfrm>
          <a:prstGeom prst="rect">
            <a:avLst/>
          </a:prstGeom>
        </p:spPr>
      </p:pic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979C29E6-10AE-BC3F-85F9-C9EB84CB299B}"/>
              </a:ext>
            </a:extLst>
          </p:cNvPr>
          <p:cNvSpPr/>
          <p:nvPr/>
        </p:nvSpPr>
        <p:spPr>
          <a:xfrm>
            <a:off x="2561172" y="2721697"/>
            <a:ext cx="4693559" cy="2041910"/>
          </a:xfrm>
          <a:prstGeom prst="roundRect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50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239D9A7-B73C-CC58-3CAE-0013732AED5B}"/>
              </a:ext>
            </a:extLst>
          </p:cNvPr>
          <p:cNvSpPr txBox="1"/>
          <p:nvPr/>
        </p:nvSpPr>
        <p:spPr>
          <a:xfrm>
            <a:off x="1172459" y="1767462"/>
            <a:ext cx="10009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Philipe</a:t>
            </a:r>
          </a:p>
          <a:p>
            <a:pPr algn="ctr"/>
            <a:r>
              <a:rPr lang="pt-BR" sz="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(Tech Lead)</a:t>
            </a:r>
          </a:p>
        </p:txBody>
      </p:sp>
      <p:pic>
        <p:nvPicPr>
          <p:cNvPr id="3" name="Imagem 2" descr="Ícone&#10;&#10;Descrição gerada automaticamente">
            <a:extLst>
              <a:ext uri="{FF2B5EF4-FFF2-40B4-BE49-F238E27FC236}">
                <a16:creationId xmlns:a16="http://schemas.microsoft.com/office/drawing/2014/main" id="{88280482-C9F2-F562-EAE7-201651F485B8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13804" y="1315758"/>
            <a:ext cx="461665" cy="461665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35D2CBFB-3699-57B6-5A01-8743738F2DAB}"/>
              </a:ext>
            </a:extLst>
          </p:cNvPr>
          <p:cNvSpPr txBox="1"/>
          <p:nvPr/>
        </p:nvSpPr>
        <p:spPr>
          <a:xfrm>
            <a:off x="3732885" y="3376658"/>
            <a:ext cx="9069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Gustavo</a:t>
            </a:r>
            <a:br>
              <a:rPr lang="pt-BR" sz="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(Dynamics)</a:t>
            </a:r>
            <a:endParaRPr lang="pt-BR" sz="9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DF924095-8ED4-2982-C663-99549FFAD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133" y="2855526"/>
            <a:ext cx="461665" cy="461665"/>
          </a:xfrm>
          <a:prstGeom prst="rect">
            <a:avLst/>
          </a:prstGeom>
        </p:spPr>
      </p:pic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6F5E4E32-BA02-53E5-87C8-139F207F2671}"/>
              </a:ext>
            </a:extLst>
          </p:cNvPr>
          <p:cNvSpPr/>
          <p:nvPr/>
        </p:nvSpPr>
        <p:spPr>
          <a:xfrm>
            <a:off x="1172460" y="1174008"/>
            <a:ext cx="2023964" cy="1118360"/>
          </a:xfrm>
          <a:prstGeom prst="roundRect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50">
              <a:solidFill>
                <a:schemeClr val="bg1"/>
              </a:solidFill>
            </a:endParaRP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7589BD78-FE85-9501-959C-2001B4681CE3}"/>
              </a:ext>
            </a:extLst>
          </p:cNvPr>
          <p:cNvSpPr txBox="1"/>
          <p:nvPr/>
        </p:nvSpPr>
        <p:spPr>
          <a:xfrm>
            <a:off x="1665584" y="784423"/>
            <a:ext cx="9841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Liderança</a:t>
            </a:r>
          </a:p>
        </p:txBody>
      </p:sp>
      <p:cxnSp>
        <p:nvCxnSpPr>
          <p:cNvPr id="1859" name="Conector: Curvo 1858">
            <a:extLst>
              <a:ext uri="{FF2B5EF4-FFF2-40B4-BE49-F238E27FC236}">
                <a16:creationId xmlns:a16="http://schemas.microsoft.com/office/drawing/2014/main" id="{4D7504D4-8FFB-BB07-51DF-C6FFFD098D01}"/>
              </a:ext>
            </a:extLst>
          </p:cNvPr>
          <p:cNvCxnSpPr>
            <a:cxnSpLocks/>
            <a:stCxn id="17" idx="0"/>
            <a:endCxn id="48" idx="2"/>
          </p:cNvCxnSpPr>
          <p:nvPr/>
        </p:nvCxnSpPr>
        <p:spPr>
          <a:xfrm rot="16200000" flipV="1">
            <a:off x="2326757" y="2150054"/>
            <a:ext cx="563159" cy="847787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2249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9"/>
          <p:cNvSpPr/>
          <p:nvPr/>
        </p:nvSpPr>
        <p:spPr>
          <a:xfrm>
            <a:off x="75" y="0"/>
            <a:ext cx="9144000" cy="5279700"/>
          </a:xfrm>
          <a:prstGeom prst="rect">
            <a:avLst/>
          </a:prstGeom>
          <a:solidFill>
            <a:srgbClr val="E622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9"/>
          <p:cNvSpPr txBox="1"/>
          <p:nvPr/>
        </p:nvSpPr>
        <p:spPr>
          <a:xfrm>
            <a:off x="2325900" y="2357475"/>
            <a:ext cx="5147700" cy="7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0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Próxima PI</a:t>
            </a:r>
            <a:endParaRPr sz="3000" b="0" i="0" u="none" strike="noStrike" cap="none" dirty="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70" name="Google Shape;270;p39"/>
          <p:cNvSpPr txBox="1"/>
          <p:nvPr/>
        </p:nvSpPr>
        <p:spPr>
          <a:xfrm>
            <a:off x="1128900" y="2001192"/>
            <a:ext cx="1414500" cy="7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6000" b="0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03.</a:t>
            </a:r>
            <a:endParaRPr sz="6000" b="0" i="0" u="none" strike="noStrike" cap="none" dirty="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681571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50"/>
          <p:cNvPicPr preferRelativeResize="0"/>
          <p:nvPr/>
        </p:nvPicPr>
        <p:blipFill rotWithShape="1">
          <a:blip r:embed="rId3">
            <a:alphaModFix/>
          </a:blip>
          <a:srcRect l="51116" t="24733" b="19256"/>
          <a:stretch/>
        </p:blipFill>
        <p:spPr>
          <a:xfrm>
            <a:off x="875" y="0"/>
            <a:ext cx="1966199" cy="350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0"/>
          <p:cNvPicPr preferRelativeResize="0"/>
          <p:nvPr/>
        </p:nvPicPr>
        <p:blipFill rotWithShape="1">
          <a:blip r:embed="rId4">
            <a:alphaModFix/>
          </a:blip>
          <a:srcRect l="33371" t="30255" r="19103"/>
          <a:stretch/>
        </p:blipFill>
        <p:spPr>
          <a:xfrm>
            <a:off x="0" y="0"/>
            <a:ext cx="1777125" cy="4060698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50"/>
          <p:cNvSpPr txBox="1"/>
          <p:nvPr/>
        </p:nvSpPr>
        <p:spPr>
          <a:xfrm>
            <a:off x="2036455" y="338852"/>
            <a:ext cx="622495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00" dirty="0">
                <a:solidFill>
                  <a:srgbClr val="26262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</a:t>
            </a:r>
            <a:r>
              <a:rPr lang="pt-BR" sz="1900" dirty="0">
                <a:solidFill>
                  <a:srgbClr val="26262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tens Refinados Tecnicamente x Não Refinados</a:t>
            </a:r>
            <a:endParaRPr lang="pt-BR" sz="1900" b="0" i="0" u="none" strike="noStrike" cap="none" dirty="0">
              <a:solidFill>
                <a:srgbClr val="26262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13A7F220-0D49-80D5-0745-070253F25ED3}"/>
              </a:ext>
            </a:extLst>
          </p:cNvPr>
          <p:cNvGraphicFramePr/>
          <p:nvPr/>
        </p:nvGraphicFramePr>
        <p:xfrm>
          <a:off x="3252866" y="1664617"/>
          <a:ext cx="3792128" cy="28914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B2B14B0A-6A70-E453-0957-F214EFD04B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7755660"/>
              </p:ext>
            </p:extLst>
          </p:nvPr>
        </p:nvGraphicFramePr>
        <p:xfrm>
          <a:off x="3174678" y="1546672"/>
          <a:ext cx="3792128" cy="28914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96240755-9AB3-2BAB-56B1-4C27121DAD94}"/>
              </a:ext>
            </a:extLst>
          </p:cNvPr>
          <p:cNvSpPr txBox="1"/>
          <p:nvPr/>
        </p:nvSpPr>
        <p:spPr>
          <a:xfrm>
            <a:off x="6567777" y="4214191"/>
            <a:ext cx="1319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44 </a:t>
            </a:r>
            <a:r>
              <a:rPr lang="en-US" dirty="0" err="1"/>
              <a:t>Itens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1210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50"/>
          <p:cNvPicPr preferRelativeResize="0"/>
          <p:nvPr/>
        </p:nvPicPr>
        <p:blipFill rotWithShape="1">
          <a:blip r:embed="rId3">
            <a:alphaModFix/>
          </a:blip>
          <a:srcRect l="51116" t="24733" b="19256"/>
          <a:stretch/>
        </p:blipFill>
        <p:spPr>
          <a:xfrm>
            <a:off x="875" y="0"/>
            <a:ext cx="1966199" cy="350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0"/>
          <p:cNvPicPr preferRelativeResize="0"/>
          <p:nvPr/>
        </p:nvPicPr>
        <p:blipFill rotWithShape="1">
          <a:blip r:embed="rId4">
            <a:alphaModFix/>
          </a:blip>
          <a:srcRect l="33371" t="30255" r="19103"/>
          <a:stretch/>
        </p:blipFill>
        <p:spPr>
          <a:xfrm>
            <a:off x="0" y="0"/>
            <a:ext cx="1777125" cy="4060698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50"/>
          <p:cNvSpPr txBox="1"/>
          <p:nvPr/>
        </p:nvSpPr>
        <p:spPr>
          <a:xfrm>
            <a:off x="2537387" y="323511"/>
            <a:ext cx="5223086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900" b="0" i="0" u="none" strike="noStrike" cap="none" dirty="0">
                <a:solidFill>
                  <a:srgbClr val="26262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Proporção por Frente de atuação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13A7F220-0D49-80D5-0745-070253F25ED3}"/>
              </a:ext>
            </a:extLst>
          </p:cNvPr>
          <p:cNvGraphicFramePr/>
          <p:nvPr/>
        </p:nvGraphicFramePr>
        <p:xfrm>
          <a:off x="3252866" y="1664617"/>
          <a:ext cx="3792128" cy="28914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B2B14B0A-6A70-E453-0957-F214EFD04B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5210963"/>
              </p:ext>
            </p:extLst>
          </p:nvPr>
        </p:nvGraphicFramePr>
        <p:xfrm>
          <a:off x="3174678" y="1546672"/>
          <a:ext cx="3792128" cy="28914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C893D0A3-F473-80F7-E41F-6C7D10845355}"/>
              </a:ext>
            </a:extLst>
          </p:cNvPr>
          <p:cNvSpPr txBox="1"/>
          <p:nvPr/>
        </p:nvSpPr>
        <p:spPr>
          <a:xfrm>
            <a:off x="6615485" y="4366266"/>
            <a:ext cx="14789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53 </a:t>
            </a:r>
            <a:r>
              <a:rPr lang="en-US" dirty="0" err="1"/>
              <a:t>pontos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5875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50"/>
          <p:cNvPicPr preferRelativeResize="0"/>
          <p:nvPr/>
        </p:nvPicPr>
        <p:blipFill rotWithShape="1">
          <a:blip r:embed="rId3">
            <a:alphaModFix/>
          </a:blip>
          <a:srcRect l="51116" t="24733" b="19256"/>
          <a:stretch/>
        </p:blipFill>
        <p:spPr>
          <a:xfrm>
            <a:off x="875" y="0"/>
            <a:ext cx="1966199" cy="350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0"/>
          <p:cNvPicPr preferRelativeResize="0"/>
          <p:nvPr/>
        </p:nvPicPr>
        <p:blipFill rotWithShape="1">
          <a:blip r:embed="rId4">
            <a:alphaModFix/>
          </a:blip>
          <a:srcRect l="33371" t="30255" r="19103"/>
          <a:stretch/>
        </p:blipFill>
        <p:spPr>
          <a:xfrm>
            <a:off x="0" y="0"/>
            <a:ext cx="1777125" cy="406069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71DE493-27C2-F688-79DB-C8B0795CAA04}"/>
              </a:ext>
            </a:extLst>
          </p:cNvPr>
          <p:cNvSpPr txBox="1"/>
          <p:nvPr/>
        </p:nvSpPr>
        <p:spPr>
          <a:xfrm>
            <a:off x="2729851" y="827632"/>
            <a:ext cx="49057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Quantidade</a:t>
            </a:r>
            <a:r>
              <a:rPr lang="en-US" dirty="0"/>
              <a:t> de </a:t>
            </a:r>
            <a:r>
              <a:rPr lang="en-US" dirty="0" err="1"/>
              <a:t>licenças</a:t>
            </a:r>
            <a:r>
              <a:rPr lang="en-US" dirty="0"/>
              <a:t> para o </a:t>
            </a:r>
            <a:r>
              <a:rPr lang="en-US" dirty="0" err="1"/>
              <a:t>captar</a:t>
            </a:r>
            <a:r>
              <a:rPr lang="en-US" dirty="0"/>
              <a:t> mobile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Como </a:t>
            </a:r>
            <a:r>
              <a:rPr lang="en-US" dirty="0" err="1"/>
              <a:t>fazer</a:t>
            </a:r>
            <a:r>
              <a:rPr lang="en-US" dirty="0"/>
              <a:t> o </a:t>
            </a:r>
            <a:r>
              <a:rPr lang="en-US" dirty="0" err="1"/>
              <a:t>cadastro</a:t>
            </a:r>
            <a:r>
              <a:rPr lang="en-US" dirty="0"/>
              <a:t> das </a:t>
            </a:r>
            <a:r>
              <a:rPr lang="en-US" dirty="0" err="1"/>
              <a:t>pessoas</a:t>
            </a:r>
            <a:r>
              <a:rPr lang="en-US" dirty="0"/>
              <a:t> Validar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Meta de </a:t>
            </a:r>
            <a:r>
              <a:rPr lang="en-US" dirty="0" err="1"/>
              <a:t>Tirar</a:t>
            </a:r>
            <a:r>
              <a:rPr lang="en-US" dirty="0"/>
              <a:t> o </a:t>
            </a:r>
            <a:r>
              <a:rPr lang="en-US" dirty="0" err="1"/>
              <a:t>captar</a:t>
            </a:r>
            <a:r>
              <a:rPr lang="en-US" dirty="0"/>
              <a:t> express ate o final do </a:t>
            </a:r>
            <a:r>
              <a:rPr lang="en-US" dirty="0" err="1"/>
              <a:t>ano</a:t>
            </a:r>
            <a:r>
              <a:rPr lang="en-US" dirty="0"/>
              <a:t>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7814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0"/>
          <p:cNvSpPr txBox="1"/>
          <p:nvPr/>
        </p:nvSpPr>
        <p:spPr>
          <a:xfrm>
            <a:off x="719650" y="2480375"/>
            <a:ext cx="3723000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600" b="1" i="0" u="none" strike="noStrike" cap="none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Onde queremos chegar?</a:t>
            </a:r>
            <a:endParaRPr sz="6000" b="1" i="0" u="none" strike="noStrike" cap="none"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8" name="Google Shape;278;p40"/>
          <p:cNvSpPr/>
          <p:nvPr/>
        </p:nvSpPr>
        <p:spPr>
          <a:xfrm>
            <a:off x="75" y="0"/>
            <a:ext cx="9144000" cy="1458600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40"/>
          <p:cNvPicPr preferRelativeResize="0"/>
          <p:nvPr/>
        </p:nvPicPr>
        <p:blipFill rotWithShape="1">
          <a:blip r:embed="rId3">
            <a:alphaModFix/>
          </a:blip>
          <a:srcRect l="21517" t="24732" r="29576" b="51975"/>
          <a:stretch/>
        </p:blipFill>
        <p:spPr>
          <a:xfrm>
            <a:off x="0" y="0"/>
            <a:ext cx="1967075" cy="1458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0"/>
          <p:cNvPicPr preferRelativeResize="0"/>
          <p:nvPr/>
        </p:nvPicPr>
        <p:blipFill rotWithShape="1">
          <a:blip r:embed="rId4">
            <a:alphaModFix/>
          </a:blip>
          <a:srcRect l="33367" t="30255" r="20562" b="44692"/>
          <a:stretch/>
        </p:blipFill>
        <p:spPr>
          <a:xfrm>
            <a:off x="0" y="0"/>
            <a:ext cx="1722774" cy="145859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75;p40">
            <a:extLst>
              <a:ext uri="{FF2B5EF4-FFF2-40B4-BE49-F238E27FC236}">
                <a16:creationId xmlns:a16="http://schemas.microsoft.com/office/drawing/2014/main" id="{91F37C74-E61C-4936-8144-FB2F1C2EAB22}"/>
              </a:ext>
            </a:extLst>
          </p:cNvPr>
          <p:cNvSpPr txBox="1"/>
          <p:nvPr/>
        </p:nvSpPr>
        <p:spPr>
          <a:xfrm>
            <a:off x="4337824" y="2146750"/>
            <a:ext cx="4086526" cy="173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Na atuação piloto durante 3 meses de uma </a:t>
            </a:r>
            <a:r>
              <a:rPr lang="pt-BR" sz="1400" b="0" i="0" u="none" strike="noStrike" cap="none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squad</a:t>
            </a:r>
            <a:r>
              <a:rPr lang="pt-BR" sz="14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de desenvolvimento independente que ficará responsável pelas atividades de desenvolvimento e sustentação da solução Captar da Kroton.</a:t>
            </a:r>
          </a:p>
        </p:txBody>
      </p:sp>
    </p:spTree>
    <p:extLst>
      <p:ext uri="{BB962C8B-B14F-4D97-AF65-F5344CB8AC3E}">
        <p14:creationId xmlns:p14="http://schemas.microsoft.com/office/powerpoint/2010/main" val="2006630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3"/>
          <p:cNvSpPr/>
          <p:nvPr/>
        </p:nvSpPr>
        <p:spPr>
          <a:xfrm>
            <a:off x="75" y="0"/>
            <a:ext cx="9144000" cy="5279700"/>
          </a:xfrm>
          <a:prstGeom prst="rect">
            <a:avLst/>
          </a:prstGeom>
          <a:solidFill>
            <a:srgbClr val="E622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3"/>
          <p:cNvSpPr txBox="1"/>
          <p:nvPr/>
        </p:nvSpPr>
        <p:spPr>
          <a:xfrm>
            <a:off x="2402100" y="2357475"/>
            <a:ext cx="5147700" cy="7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0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Proposta de Valor</a:t>
            </a:r>
            <a:endParaRPr sz="3000" b="0" i="0" u="none" strike="noStrike" cap="none" dirty="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03" name="Google Shape;303;p43"/>
          <p:cNvSpPr txBox="1"/>
          <p:nvPr/>
        </p:nvSpPr>
        <p:spPr>
          <a:xfrm>
            <a:off x="1128900" y="2001192"/>
            <a:ext cx="1414500" cy="7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6000" b="0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04.</a:t>
            </a:r>
            <a:endParaRPr sz="6000" b="0" i="0" u="none" strike="noStrike" cap="none" dirty="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gb538ab4eb2_0_816"/>
          <p:cNvPicPr preferRelativeResize="0"/>
          <p:nvPr/>
        </p:nvPicPr>
        <p:blipFill rotWithShape="1">
          <a:blip r:embed="rId3">
            <a:alphaModFix/>
          </a:blip>
          <a:srcRect l="23336" t="41222" b="7191"/>
          <a:stretch/>
        </p:blipFill>
        <p:spPr>
          <a:xfrm>
            <a:off x="4300700" y="0"/>
            <a:ext cx="4985724" cy="5223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gb538ab4eb2_0_816"/>
          <p:cNvPicPr preferRelativeResize="0"/>
          <p:nvPr/>
        </p:nvPicPr>
        <p:blipFill rotWithShape="1">
          <a:blip r:embed="rId4">
            <a:alphaModFix/>
          </a:blip>
          <a:srcRect t="42950" r="22045" b="1564"/>
          <a:stretch/>
        </p:blipFill>
        <p:spPr>
          <a:xfrm>
            <a:off x="4430800" y="0"/>
            <a:ext cx="4713201" cy="5223248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gb538ab4eb2_0_816"/>
          <p:cNvSpPr/>
          <p:nvPr/>
        </p:nvSpPr>
        <p:spPr>
          <a:xfrm>
            <a:off x="0" y="2248148"/>
            <a:ext cx="9144000" cy="2975100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gb538ab4eb2_0_816"/>
          <p:cNvSpPr txBox="1"/>
          <p:nvPr/>
        </p:nvSpPr>
        <p:spPr>
          <a:xfrm>
            <a:off x="592875" y="274350"/>
            <a:ext cx="59160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100" b="1" dirty="0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Proposta de Valor</a:t>
            </a:r>
            <a:endParaRPr sz="2000" i="0" u="none" strike="noStrike" cap="none" dirty="0">
              <a:solidFill>
                <a:srgbClr val="1D1D1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94" name="Google Shape;694;gb538ab4eb2_0_816"/>
          <p:cNvSpPr txBox="1"/>
          <p:nvPr/>
        </p:nvSpPr>
        <p:spPr>
          <a:xfrm>
            <a:off x="573675" y="854975"/>
            <a:ext cx="3848100" cy="9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-US" sz="11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visão</a:t>
            </a:r>
            <a:r>
              <a:rPr lang="en-US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11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produto</a:t>
            </a:r>
            <a:r>
              <a:rPr lang="en-US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alinhada</a:t>
            </a:r>
            <a:r>
              <a:rPr lang="en-US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a um time </a:t>
            </a:r>
            <a:r>
              <a:rPr lang="en-US" sz="11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participativo</a:t>
            </a:r>
            <a:r>
              <a:rPr lang="en-US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capaz</a:t>
            </a:r>
            <a:r>
              <a:rPr lang="en-US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11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realizar</a:t>
            </a:r>
            <a:r>
              <a:rPr lang="en-US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entregas</a:t>
            </a:r>
            <a:r>
              <a:rPr lang="en-US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consistentes</a:t>
            </a:r>
            <a:r>
              <a:rPr lang="en-US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e com </a:t>
            </a:r>
            <a:r>
              <a:rPr lang="en-US" sz="11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qualidade</a:t>
            </a:r>
            <a:r>
              <a:rPr lang="en-US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impactando</a:t>
            </a:r>
            <a:r>
              <a:rPr lang="en-US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11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geração</a:t>
            </a:r>
            <a:r>
              <a:rPr lang="en-US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de valor </a:t>
            </a:r>
            <a:r>
              <a:rPr lang="en-US" sz="11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sobre</a:t>
            </a:r>
            <a:r>
              <a:rPr lang="en-US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n-US" sz="11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negócio</a:t>
            </a:r>
            <a:r>
              <a:rPr lang="en-US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 dirty="0"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6" name="Google Shape;696;gb538ab4eb2_0_816"/>
          <p:cNvSpPr txBox="1"/>
          <p:nvPr/>
        </p:nvSpPr>
        <p:spPr>
          <a:xfrm>
            <a:off x="152528" y="2482790"/>
            <a:ext cx="1827734" cy="4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b="1" dirty="0">
                <a:solidFill>
                  <a:srgbClr val="E62263"/>
                </a:solidFill>
                <a:latin typeface="Poppins"/>
                <a:ea typeface="Poppins"/>
                <a:cs typeface="Poppins"/>
                <a:sym typeface="Poppins"/>
              </a:rPr>
              <a:t>Visão do produto</a:t>
            </a:r>
            <a:endParaRPr i="0" u="none" strike="noStrike" cap="none" dirty="0">
              <a:solidFill>
                <a:srgbClr val="E6226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97" name="Google Shape;697;gb538ab4eb2_0_816"/>
          <p:cNvSpPr txBox="1"/>
          <p:nvPr/>
        </p:nvSpPr>
        <p:spPr>
          <a:xfrm>
            <a:off x="4994070" y="2436323"/>
            <a:ext cx="1692005" cy="350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b="1" dirty="0">
                <a:solidFill>
                  <a:srgbClr val="E62263"/>
                </a:solidFill>
                <a:latin typeface="Poppins"/>
                <a:ea typeface="Poppins"/>
                <a:cs typeface="Poppins"/>
                <a:sym typeface="Poppins"/>
              </a:rPr>
              <a:t>Entregas consistentes</a:t>
            </a:r>
            <a:endParaRPr i="0" u="none" strike="noStrike" cap="none" dirty="0">
              <a:solidFill>
                <a:srgbClr val="E6226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99" name="Google Shape;699;gb538ab4eb2_0_816"/>
          <p:cNvSpPr txBox="1"/>
          <p:nvPr/>
        </p:nvSpPr>
        <p:spPr>
          <a:xfrm>
            <a:off x="213488" y="3514013"/>
            <a:ext cx="1394240" cy="91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9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Visão do produto constantemente compartilhada com a equipe.</a:t>
            </a:r>
            <a:endParaRPr sz="900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696;gb538ab4eb2_0_816">
            <a:extLst>
              <a:ext uri="{FF2B5EF4-FFF2-40B4-BE49-F238E27FC236}">
                <a16:creationId xmlns:a16="http://schemas.microsoft.com/office/drawing/2014/main" id="{5713FF31-F42A-D4DC-0ABB-96322DAD70C3}"/>
              </a:ext>
            </a:extLst>
          </p:cNvPr>
          <p:cNvSpPr txBox="1"/>
          <p:nvPr/>
        </p:nvSpPr>
        <p:spPr>
          <a:xfrm>
            <a:off x="2187915" y="2489590"/>
            <a:ext cx="1887114" cy="4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b="1" dirty="0">
                <a:solidFill>
                  <a:srgbClr val="E62263"/>
                </a:solidFill>
                <a:latin typeface="Poppins"/>
                <a:ea typeface="Poppins"/>
                <a:cs typeface="Poppins"/>
                <a:sym typeface="Poppins"/>
              </a:rPr>
              <a:t>Time participativo</a:t>
            </a:r>
            <a:endParaRPr i="0" u="none" strike="noStrike" cap="none" dirty="0">
              <a:solidFill>
                <a:srgbClr val="E6226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" name="Google Shape;697;gb538ab4eb2_0_816">
            <a:extLst>
              <a:ext uri="{FF2B5EF4-FFF2-40B4-BE49-F238E27FC236}">
                <a16:creationId xmlns:a16="http://schemas.microsoft.com/office/drawing/2014/main" id="{15501F6A-6BB9-F213-D270-23A2346AD4AD}"/>
              </a:ext>
            </a:extLst>
          </p:cNvPr>
          <p:cNvSpPr txBox="1"/>
          <p:nvPr/>
        </p:nvSpPr>
        <p:spPr>
          <a:xfrm>
            <a:off x="7247755" y="2355788"/>
            <a:ext cx="1692005" cy="350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b="1" dirty="0">
                <a:solidFill>
                  <a:srgbClr val="E62263"/>
                </a:solidFill>
                <a:latin typeface="Poppins"/>
                <a:ea typeface="Poppins"/>
                <a:cs typeface="Poppins"/>
                <a:sym typeface="Poppins"/>
              </a:rPr>
              <a:t>Geração de valor para o negócio</a:t>
            </a:r>
            <a:endParaRPr i="0" u="none" strike="noStrike" cap="none" dirty="0">
              <a:solidFill>
                <a:srgbClr val="E6226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" name="Google Shape;699;gb538ab4eb2_0_816">
            <a:extLst>
              <a:ext uri="{FF2B5EF4-FFF2-40B4-BE49-F238E27FC236}">
                <a16:creationId xmlns:a16="http://schemas.microsoft.com/office/drawing/2014/main" id="{DDBA7C86-CC27-3789-C3C6-93D2F0AD9DBF}"/>
              </a:ext>
            </a:extLst>
          </p:cNvPr>
          <p:cNvSpPr txBox="1"/>
          <p:nvPr/>
        </p:nvSpPr>
        <p:spPr>
          <a:xfrm>
            <a:off x="2342743" y="3508021"/>
            <a:ext cx="1394240" cy="91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9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Membros da equipes com domínio do negócio e participação nas cerimônias ágeis.</a:t>
            </a:r>
            <a:endParaRPr sz="900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" name="Imagem 6" descr="Ícone&#10;&#10;Descrição gerada automaticamente">
            <a:extLst>
              <a:ext uri="{FF2B5EF4-FFF2-40B4-BE49-F238E27FC236}">
                <a16:creationId xmlns:a16="http://schemas.microsoft.com/office/drawing/2014/main" id="{E44F31A8-2B23-63AA-3E91-D63F7A78CA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3391" y="3695419"/>
            <a:ext cx="374400" cy="374400"/>
          </a:xfrm>
          <a:prstGeom prst="rect">
            <a:avLst/>
          </a:prstGeom>
        </p:spPr>
      </p:pic>
      <p:pic>
        <p:nvPicPr>
          <p:cNvPr id="11" name="Imagem 10" descr="Logotipo, Ícone&#10;&#10;Descrição gerada automaticamente">
            <a:extLst>
              <a:ext uri="{FF2B5EF4-FFF2-40B4-BE49-F238E27FC236}">
                <a16:creationId xmlns:a16="http://schemas.microsoft.com/office/drawing/2014/main" id="{0FBDFB52-3FDB-62BA-3828-5211A07A61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7508" y="3695419"/>
            <a:ext cx="374400" cy="374400"/>
          </a:xfrm>
          <a:prstGeom prst="rect">
            <a:avLst/>
          </a:prstGeom>
        </p:spPr>
      </p:pic>
      <p:sp>
        <p:nvSpPr>
          <p:cNvPr id="12" name="Google Shape;699;gb538ab4eb2_0_816">
            <a:extLst>
              <a:ext uri="{FF2B5EF4-FFF2-40B4-BE49-F238E27FC236}">
                <a16:creationId xmlns:a16="http://schemas.microsoft.com/office/drawing/2014/main" id="{0416FC9B-4A69-A72E-124A-DB1AF65C9DB8}"/>
              </a:ext>
            </a:extLst>
          </p:cNvPr>
          <p:cNvSpPr txBox="1"/>
          <p:nvPr/>
        </p:nvSpPr>
        <p:spPr>
          <a:xfrm>
            <a:off x="5054235" y="3487326"/>
            <a:ext cx="1394240" cy="91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9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Entregas consistentes e com qualidade que chegam com segurança ao ambiente produtivo.</a:t>
            </a:r>
            <a:endParaRPr sz="900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Google Shape;699;gb538ab4eb2_0_816">
            <a:extLst>
              <a:ext uri="{FF2B5EF4-FFF2-40B4-BE49-F238E27FC236}">
                <a16:creationId xmlns:a16="http://schemas.microsoft.com/office/drawing/2014/main" id="{23CBBFF0-74D3-B3FB-C3B5-E189CA0A19F2}"/>
              </a:ext>
            </a:extLst>
          </p:cNvPr>
          <p:cNvSpPr txBox="1"/>
          <p:nvPr/>
        </p:nvSpPr>
        <p:spPr>
          <a:xfrm>
            <a:off x="7413130" y="3519180"/>
            <a:ext cx="1394240" cy="91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9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Impacto constante na geração de valor para o negócio do cliente.</a:t>
            </a:r>
            <a:endParaRPr sz="900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" name="Imagem 14" descr="Ícone&#10;&#10;Descrição gerada automaticamente">
            <a:extLst>
              <a:ext uri="{FF2B5EF4-FFF2-40B4-BE49-F238E27FC236}">
                <a16:creationId xmlns:a16="http://schemas.microsoft.com/office/drawing/2014/main" id="{3305C23D-54E6-5A8E-C7C8-E0FDE10F93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6872" y="3695419"/>
            <a:ext cx="374400" cy="374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A9ED0CA-75C0-4C5D-A01A-A52830B4F57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9" imgH="367" progId="TCLayout.ActiveDocument.1">
                  <p:embed/>
                </p:oleObj>
              </mc:Choice>
              <mc:Fallback>
                <p:oleObj name="think-cell Slide" r:id="rId4" imgW="389" imgH="36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A9ED0CA-75C0-4C5D-A01A-A52830B4F5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BF0F07F-2E39-4096-B544-3A9C3C4C7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86" y="157161"/>
            <a:ext cx="8572500" cy="375182"/>
          </a:xfrm>
        </p:spPr>
        <p:txBody>
          <a:bodyPr vert="horz">
            <a:normAutofit fontScale="90000"/>
          </a:bodyPr>
          <a:lstStyle/>
          <a:p>
            <a:r>
              <a:rPr lang="pt-BR" sz="3200" b="0" i="0" u="none" strike="noStrike" cap="none" dirty="0">
                <a:solidFill>
                  <a:srgbClr val="1D1D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Abordagem</a:t>
            </a:r>
            <a:endParaRPr lang="pt-BR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87CB39E2-8461-4798-A700-8334BDA8A2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57869" y="4508373"/>
            <a:ext cx="2934283" cy="482650"/>
          </a:xfrm>
        </p:spPr>
        <p:txBody>
          <a:bodyPr/>
          <a:lstStyle/>
          <a:p>
            <a:pPr marL="95250" indent="0" algn="just">
              <a:buNone/>
            </a:pPr>
            <a:r>
              <a:rPr lang="pt-BR" sz="800" dirty="0" err="1">
                <a:solidFill>
                  <a:srgbClr val="7F7F7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Obs</a:t>
            </a:r>
            <a:r>
              <a:rPr lang="pt-BR" sz="800" dirty="0">
                <a:solidFill>
                  <a:srgbClr val="7F7F7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Propomos esse modelo ágil iterativo durante um período piloto de 3 meses para que possamos experimentar e validar o modelo durante todo um ciclo de PI.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032A8AB-A6C4-450F-AA11-94A01F9A00E5}"/>
              </a:ext>
            </a:extLst>
          </p:cNvPr>
          <p:cNvGrpSpPr/>
          <p:nvPr/>
        </p:nvGrpSpPr>
        <p:grpSpPr>
          <a:xfrm>
            <a:off x="401929" y="2100257"/>
            <a:ext cx="8262245" cy="1966425"/>
            <a:chOff x="1371817" y="3656114"/>
            <a:chExt cx="11016326" cy="2621900"/>
          </a:xfrm>
        </p:grpSpPr>
        <p:sp>
          <p:nvSpPr>
            <p:cNvPr id="35" name="Freeform 42">
              <a:extLst>
                <a:ext uri="{FF2B5EF4-FFF2-40B4-BE49-F238E27FC236}">
                  <a16:creationId xmlns:a16="http://schemas.microsoft.com/office/drawing/2014/main" id="{48134C69-37D8-4BDF-ABA8-D8A8E06678C6}"/>
                </a:ext>
              </a:extLst>
            </p:cNvPr>
            <p:cNvSpPr/>
            <p:nvPr/>
          </p:nvSpPr>
          <p:spPr>
            <a:xfrm>
              <a:off x="1371817" y="4886686"/>
              <a:ext cx="5283256" cy="1391328"/>
            </a:xfrm>
            <a:custGeom>
              <a:avLst/>
              <a:gdLst>
                <a:gd name="connsiteX0" fmla="*/ 0 w 1384300"/>
                <a:gd name="connsiteY0" fmla="*/ 812800 h 812800"/>
                <a:gd name="connsiteX1" fmla="*/ 1384300 w 1384300"/>
                <a:gd name="connsiteY1" fmla="*/ 0 h 812800"/>
                <a:gd name="connsiteX0" fmla="*/ 0 w 1384300"/>
                <a:gd name="connsiteY0" fmla="*/ 881341 h 881341"/>
                <a:gd name="connsiteX1" fmla="*/ 1384300 w 1384300"/>
                <a:gd name="connsiteY1" fmla="*/ 68541 h 881341"/>
                <a:gd name="connsiteX0" fmla="*/ 0 w 1384300"/>
                <a:gd name="connsiteY0" fmla="*/ 860532 h 886274"/>
                <a:gd name="connsiteX1" fmla="*/ 1384300 w 1384300"/>
                <a:gd name="connsiteY1" fmla="*/ 47732 h 886274"/>
                <a:gd name="connsiteX0" fmla="*/ 0 w 1384300"/>
                <a:gd name="connsiteY0" fmla="*/ 869808 h 894963"/>
                <a:gd name="connsiteX1" fmla="*/ 1384300 w 1384300"/>
                <a:gd name="connsiteY1" fmla="*/ 57008 h 894963"/>
                <a:gd name="connsiteX0" fmla="*/ 0 w 1384300"/>
                <a:gd name="connsiteY0" fmla="*/ 868932 h 899381"/>
                <a:gd name="connsiteX1" fmla="*/ 1384300 w 1384300"/>
                <a:gd name="connsiteY1" fmla="*/ 56132 h 899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84300" h="899381">
                  <a:moveTo>
                    <a:pt x="0" y="868932"/>
                  </a:moveTo>
                  <a:cubicBezTo>
                    <a:pt x="801952" y="1121875"/>
                    <a:pt x="432329" y="-294442"/>
                    <a:pt x="1384300" y="56132"/>
                  </a:cubicBezTo>
                </a:path>
              </a:pathLst>
            </a:custGeom>
            <a:noFill/>
            <a:ln w="47625" cap="flat" cmpd="sng" algn="ctr">
              <a:solidFill>
                <a:srgbClr val="7F7F7F"/>
              </a:solidFill>
              <a:prstDash val="solid"/>
            </a:ln>
            <a:effectLst/>
          </p:spPr>
          <p:txBody>
            <a:bodyPr lIns="51435" tIns="25718" rIns="51435" bIns="25718" rtlCol="0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788">
                <a:solidFill>
                  <a:srgbClr val="BD0022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36" name="Freeform 42">
              <a:extLst>
                <a:ext uri="{FF2B5EF4-FFF2-40B4-BE49-F238E27FC236}">
                  <a16:creationId xmlns:a16="http://schemas.microsoft.com/office/drawing/2014/main" id="{16DDCCDC-13FB-4ABD-BA1B-E4F2ED331557}"/>
                </a:ext>
              </a:extLst>
            </p:cNvPr>
            <p:cNvSpPr/>
            <p:nvPr/>
          </p:nvSpPr>
          <p:spPr>
            <a:xfrm>
              <a:off x="7104887" y="3656114"/>
              <a:ext cx="5283256" cy="1391328"/>
            </a:xfrm>
            <a:custGeom>
              <a:avLst/>
              <a:gdLst>
                <a:gd name="connsiteX0" fmla="*/ 0 w 1384300"/>
                <a:gd name="connsiteY0" fmla="*/ 812800 h 812800"/>
                <a:gd name="connsiteX1" fmla="*/ 1384300 w 1384300"/>
                <a:gd name="connsiteY1" fmla="*/ 0 h 812800"/>
                <a:gd name="connsiteX0" fmla="*/ 0 w 1384300"/>
                <a:gd name="connsiteY0" fmla="*/ 881341 h 881341"/>
                <a:gd name="connsiteX1" fmla="*/ 1384300 w 1384300"/>
                <a:gd name="connsiteY1" fmla="*/ 68541 h 881341"/>
                <a:gd name="connsiteX0" fmla="*/ 0 w 1384300"/>
                <a:gd name="connsiteY0" fmla="*/ 860532 h 886274"/>
                <a:gd name="connsiteX1" fmla="*/ 1384300 w 1384300"/>
                <a:gd name="connsiteY1" fmla="*/ 47732 h 886274"/>
                <a:gd name="connsiteX0" fmla="*/ 0 w 1384300"/>
                <a:gd name="connsiteY0" fmla="*/ 869808 h 894963"/>
                <a:gd name="connsiteX1" fmla="*/ 1384300 w 1384300"/>
                <a:gd name="connsiteY1" fmla="*/ 57008 h 894963"/>
                <a:gd name="connsiteX0" fmla="*/ 0 w 1384300"/>
                <a:gd name="connsiteY0" fmla="*/ 868932 h 899381"/>
                <a:gd name="connsiteX1" fmla="*/ 1384300 w 1384300"/>
                <a:gd name="connsiteY1" fmla="*/ 56132 h 899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84300" h="899381">
                  <a:moveTo>
                    <a:pt x="0" y="868932"/>
                  </a:moveTo>
                  <a:cubicBezTo>
                    <a:pt x="801952" y="1121875"/>
                    <a:pt x="432329" y="-294442"/>
                    <a:pt x="1384300" y="56132"/>
                  </a:cubicBezTo>
                </a:path>
              </a:pathLst>
            </a:custGeom>
            <a:noFill/>
            <a:ln w="47625" cap="flat" cmpd="sng" algn="ctr">
              <a:solidFill>
                <a:srgbClr val="7F7F7F"/>
              </a:solidFill>
              <a:prstDash val="solid"/>
            </a:ln>
            <a:effectLst/>
          </p:spPr>
          <p:txBody>
            <a:bodyPr lIns="51435" tIns="25718" rIns="51435" bIns="25718" rtlCol="0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788">
                <a:solidFill>
                  <a:srgbClr val="BD0022"/>
                </a:solidFill>
                <a:latin typeface="Graphik" panose="020B0503030202060203" pitchFamily="34" charset="0"/>
              </a:endParaRPr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11608DA2-2605-4AD7-BA17-4DA60C7F8375}"/>
              </a:ext>
            </a:extLst>
          </p:cNvPr>
          <p:cNvSpPr/>
          <p:nvPr/>
        </p:nvSpPr>
        <p:spPr>
          <a:xfrm>
            <a:off x="7400171" y="1508958"/>
            <a:ext cx="1493457" cy="976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pt-BR" sz="1200" kern="1200">
              <a:solidFill>
                <a:srgbClr val="FFFFFF"/>
              </a:solidFill>
              <a:latin typeface="Graphik" panose="020B0503030202060203" pitchFamily="34" charset="0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916FA5C-B3F5-44EF-A440-0BE3DD4E63CD}"/>
              </a:ext>
            </a:extLst>
          </p:cNvPr>
          <p:cNvSpPr/>
          <p:nvPr/>
        </p:nvSpPr>
        <p:spPr>
          <a:xfrm>
            <a:off x="888432" y="3840000"/>
            <a:ext cx="348631" cy="348631"/>
          </a:xfrm>
          <a:prstGeom prst="ellipse">
            <a:avLst/>
          </a:prstGeom>
          <a:solidFill>
            <a:schemeClr val="bg1"/>
          </a:solidFill>
          <a:ln w="44450"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pt-BR" sz="1200" kern="1200">
              <a:solidFill>
                <a:srgbClr val="BD0022"/>
              </a:solidFill>
              <a:latin typeface="Graphik" panose="020B0503030202060203" pitchFamily="34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8469C4A-5273-4B01-A566-59353A84CE76}"/>
              </a:ext>
            </a:extLst>
          </p:cNvPr>
          <p:cNvSpPr/>
          <p:nvPr/>
        </p:nvSpPr>
        <p:spPr>
          <a:xfrm>
            <a:off x="2002428" y="3388174"/>
            <a:ext cx="348631" cy="348631"/>
          </a:xfrm>
          <a:prstGeom prst="ellipse">
            <a:avLst/>
          </a:prstGeom>
          <a:solidFill>
            <a:schemeClr val="bg1"/>
          </a:solidFill>
          <a:ln w="44450"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pt-BR" sz="1200" kern="1200">
              <a:solidFill>
                <a:srgbClr val="BD0022"/>
              </a:solidFill>
              <a:latin typeface="Graphik" panose="020B050303020206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DED175F-61D1-4676-B1DB-F9474AC95CF7}"/>
              </a:ext>
            </a:extLst>
          </p:cNvPr>
          <p:cNvSpPr txBox="1"/>
          <p:nvPr/>
        </p:nvSpPr>
        <p:spPr>
          <a:xfrm>
            <a:off x="3478255" y="1532900"/>
            <a:ext cx="2108057" cy="49244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385753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800" b="1" dirty="0">
                <a:solidFill>
                  <a:srgbClr val="2CB3A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4. DESENVOLVIMENTO</a:t>
            </a:r>
          </a:p>
          <a:p>
            <a:pPr marL="89297" indent="-89297" defTabSz="685800">
              <a:spcAft>
                <a:spcPts val="15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pt-BR" sz="800" dirty="0">
                <a:solidFill>
                  <a:srgbClr val="66666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Desenvolvimento das funcionalidades, integrações, interfaces e testes unitários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563BCCC-405D-4EBF-8CCE-4E56722D8900}"/>
              </a:ext>
            </a:extLst>
          </p:cNvPr>
          <p:cNvSpPr txBox="1"/>
          <p:nvPr/>
        </p:nvSpPr>
        <p:spPr>
          <a:xfrm>
            <a:off x="1489840" y="1526211"/>
            <a:ext cx="1700624" cy="93871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r" defTabSz="385753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800" b="1" dirty="0">
                <a:solidFill>
                  <a:srgbClr val="2CB3A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3. PREPARAÇÃO</a:t>
            </a:r>
          </a:p>
          <a:p>
            <a:pPr marL="89297" indent="-89297" defTabSz="685800">
              <a:spcAft>
                <a:spcPts val="15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pt-BR" sz="800" kern="1200" dirty="0">
                <a:solidFill>
                  <a:srgbClr val="666666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Levantamento de infraestrutura necessária</a:t>
            </a:r>
          </a:p>
          <a:p>
            <a:pPr marL="89297" indent="-89297" defTabSz="685800">
              <a:spcAft>
                <a:spcPts val="15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pt-BR" sz="800" dirty="0">
                <a:solidFill>
                  <a:srgbClr val="66666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Configuração do ambiente de desenvolvimento</a:t>
            </a:r>
          </a:p>
          <a:p>
            <a:pPr marL="89297" indent="-89297" defTabSz="685800">
              <a:spcAft>
                <a:spcPts val="15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pt-BR" sz="800" dirty="0">
                <a:solidFill>
                  <a:srgbClr val="66666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Desenvolvimento de protótipos</a:t>
            </a:r>
          </a:p>
          <a:p>
            <a:pPr marL="89297" indent="-89297" defTabSz="685800">
              <a:spcAft>
                <a:spcPts val="150"/>
              </a:spcAft>
              <a:buClrTx/>
              <a:buFont typeface="Arial" panose="020B0604020202020204" pitchFamily="34" charset="0"/>
              <a:buChar char="•"/>
              <a:defRPr/>
            </a:pPr>
            <a:endParaRPr lang="pt-BR" sz="800" kern="1200" dirty="0">
              <a:solidFill>
                <a:srgbClr val="666666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A39DC5F-557F-4FEB-9198-6840D59ACDF0}"/>
              </a:ext>
            </a:extLst>
          </p:cNvPr>
          <p:cNvSpPr txBox="1"/>
          <p:nvPr/>
        </p:nvSpPr>
        <p:spPr>
          <a:xfrm>
            <a:off x="4668693" y="3721210"/>
            <a:ext cx="1411223" cy="86690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385753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800" b="1" dirty="0">
                <a:solidFill>
                  <a:srgbClr val="2CB3A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5. TESTES</a:t>
            </a:r>
          </a:p>
          <a:p>
            <a:pPr marL="128588" indent="-128588" defTabSz="385753" eaLnBrk="0" fontAlgn="base" hangingPunct="0">
              <a:spcBef>
                <a:spcPts val="45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pt-BR" sz="800" kern="1200" dirty="0">
                <a:solidFill>
                  <a:srgbClr val="66666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Realização dos testes na visão de negócio</a:t>
            </a:r>
          </a:p>
          <a:p>
            <a:pPr marL="128588" indent="-128588" defTabSz="385753" eaLnBrk="0" fontAlgn="base" hangingPunct="0">
              <a:spcBef>
                <a:spcPts val="45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pt-BR" sz="800" dirty="0">
                <a:solidFill>
                  <a:srgbClr val="66666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Apresentação de evolução da cobertura as áreas de interesse</a:t>
            </a:r>
            <a:endParaRPr lang="pt-BR" sz="800" kern="1200" dirty="0">
              <a:solidFill>
                <a:srgbClr val="666666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FD28FDE-6317-4C98-A956-58F7E638CC7F}"/>
              </a:ext>
            </a:extLst>
          </p:cNvPr>
          <p:cNvSpPr txBox="1"/>
          <p:nvPr/>
        </p:nvSpPr>
        <p:spPr>
          <a:xfrm>
            <a:off x="245702" y="2486370"/>
            <a:ext cx="1489884" cy="1192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spcAft>
                <a:spcPts val="450"/>
              </a:spcAft>
              <a:buClrTx/>
              <a:defRPr/>
            </a:pPr>
            <a:r>
              <a:rPr lang="en-US" sz="800" b="1" dirty="0">
                <a:solidFill>
                  <a:srgbClr val="2CB3A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1. PI </a:t>
            </a:r>
            <a:r>
              <a:rPr lang="pt-BR" sz="800" b="1" dirty="0">
                <a:solidFill>
                  <a:srgbClr val="2CB3A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Planning</a:t>
            </a:r>
            <a:endParaRPr lang="pt-BR" sz="800" b="1" kern="1200" dirty="0">
              <a:solidFill>
                <a:srgbClr val="2CB3A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89297" indent="-89297" defTabSz="685800">
              <a:spcAft>
                <a:spcPts val="15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pt-BR" sz="800" kern="1200" dirty="0">
                <a:solidFill>
                  <a:srgbClr val="666666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Apoio sobre a governança</a:t>
            </a:r>
          </a:p>
          <a:p>
            <a:pPr marL="89297" indent="-89297" defTabSz="685800">
              <a:spcAft>
                <a:spcPts val="15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pt-BR" sz="800" dirty="0">
                <a:solidFill>
                  <a:srgbClr val="66666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Apoio na definição do plano de trabalho</a:t>
            </a:r>
          </a:p>
          <a:p>
            <a:pPr marL="89297" indent="-89297" defTabSz="685800">
              <a:spcAft>
                <a:spcPts val="15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pt-BR" sz="800" dirty="0">
                <a:solidFill>
                  <a:srgbClr val="66666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Alinhamento das prioridades dos requisitos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07EF558-A997-4CCD-AA6B-084B35F8BB2B}"/>
              </a:ext>
            </a:extLst>
          </p:cNvPr>
          <p:cNvSpPr/>
          <p:nvPr/>
        </p:nvSpPr>
        <p:spPr>
          <a:xfrm rot="20077951">
            <a:off x="3356911" y="2424556"/>
            <a:ext cx="1341470" cy="1341470"/>
          </a:xfrm>
          <a:prstGeom prst="ellipse">
            <a:avLst/>
          </a:prstGeom>
          <a:solidFill>
            <a:schemeClr val="bg1"/>
          </a:solidFill>
          <a:ln w="31750">
            <a:solidFill>
              <a:srgbClr val="7F7F7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pt-BR" sz="1200" kern="1200">
              <a:solidFill>
                <a:srgbClr val="FFFFFF"/>
              </a:solidFill>
              <a:latin typeface="Graphik" panose="020B0503030202060203" pitchFamily="34" charset="0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54D276A-219A-4389-A0C9-CEA41C80B59C}"/>
              </a:ext>
            </a:extLst>
          </p:cNvPr>
          <p:cNvSpPr/>
          <p:nvPr/>
        </p:nvSpPr>
        <p:spPr>
          <a:xfrm rot="20077951">
            <a:off x="4476152" y="3155986"/>
            <a:ext cx="348631" cy="348631"/>
          </a:xfrm>
          <a:prstGeom prst="ellipse">
            <a:avLst/>
          </a:prstGeom>
          <a:solidFill>
            <a:schemeClr val="bg1"/>
          </a:solidFill>
          <a:ln w="44450"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pt-BR" sz="1200" kern="1200">
              <a:solidFill>
                <a:srgbClr val="BD0022"/>
              </a:solidFill>
              <a:latin typeface="Graphik" panose="020B0503030202060203" pitchFamily="34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D2DEDD5-4EC3-4F7E-B5B4-C82EDE78BD76}"/>
              </a:ext>
            </a:extLst>
          </p:cNvPr>
          <p:cNvSpPr/>
          <p:nvPr/>
        </p:nvSpPr>
        <p:spPr>
          <a:xfrm rot="20077951">
            <a:off x="3987632" y="2316198"/>
            <a:ext cx="348631" cy="348631"/>
          </a:xfrm>
          <a:prstGeom prst="ellipse">
            <a:avLst/>
          </a:prstGeom>
          <a:solidFill>
            <a:schemeClr val="bg1"/>
          </a:solidFill>
          <a:ln w="44450"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pt-BR" sz="1200" kern="1200">
              <a:solidFill>
                <a:srgbClr val="BD0022"/>
              </a:solidFill>
              <a:latin typeface="Graphik" panose="020B0503030202060203" pitchFamily="34" charset="0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3140DE3B-35BC-41C2-BA0C-4EDDD6581102}"/>
              </a:ext>
            </a:extLst>
          </p:cNvPr>
          <p:cNvSpPr/>
          <p:nvPr/>
        </p:nvSpPr>
        <p:spPr>
          <a:xfrm rot="20077951">
            <a:off x="3148766" y="2931232"/>
            <a:ext cx="348631" cy="348631"/>
          </a:xfrm>
          <a:prstGeom prst="ellipse">
            <a:avLst/>
          </a:prstGeom>
          <a:solidFill>
            <a:schemeClr val="bg1"/>
          </a:solidFill>
          <a:ln w="44450"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pt-BR" sz="1200" kern="1200">
              <a:solidFill>
                <a:srgbClr val="BD0022"/>
              </a:solidFill>
              <a:latin typeface="Graphik" panose="020B0503030202060203" pitchFamily="34" charset="0"/>
            </a:endParaRPr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FD5E8663-F4DE-4EFC-8C70-6ABE005426BD}"/>
              </a:ext>
            </a:extLst>
          </p:cNvPr>
          <p:cNvSpPr/>
          <p:nvPr/>
        </p:nvSpPr>
        <p:spPr>
          <a:xfrm rot="3089793">
            <a:off x="3455581" y="2516601"/>
            <a:ext cx="195689" cy="185525"/>
          </a:xfrm>
          <a:prstGeom prst="triangle">
            <a:avLst/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pt-BR" sz="1200" kern="1200">
              <a:solidFill>
                <a:srgbClr val="FFFFFF"/>
              </a:solidFill>
              <a:latin typeface="Graphik" panose="020B0503030202060203" pitchFamily="34" charset="0"/>
            </a:endParaRPr>
          </a:p>
        </p:txBody>
      </p:sp>
      <p:sp>
        <p:nvSpPr>
          <p:cNvPr id="71" name="Isosceles Triangle 70">
            <a:extLst>
              <a:ext uri="{FF2B5EF4-FFF2-40B4-BE49-F238E27FC236}">
                <a16:creationId xmlns:a16="http://schemas.microsoft.com/office/drawing/2014/main" id="{181D821B-9339-434C-98C7-B3A5B824232C}"/>
              </a:ext>
            </a:extLst>
          </p:cNvPr>
          <p:cNvSpPr/>
          <p:nvPr/>
        </p:nvSpPr>
        <p:spPr>
          <a:xfrm rot="9364114">
            <a:off x="4511684" y="2686295"/>
            <a:ext cx="195689" cy="185525"/>
          </a:xfrm>
          <a:prstGeom prst="triangle">
            <a:avLst/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pt-BR" sz="1200" kern="1200">
              <a:solidFill>
                <a:srgbClr val="FFFFFF"/>
              </a:solidFill>
              <a:latin typeface="Graphik" panose="020B0503030202060203" pitchFamily="34" charset="0"/>
            </a:endParaRPr>
          </a:p>
        </p:txBody>
      </p:sp>
      <p:sp>
        <p:nvSpPr>
          <p:cNvPr id="72" name="Isosceles Triangle 71">
            <a:extLst>
              <a:ext uri="{FF2B5EF4-FFF2-40B4-BE49-F238E27FC236}">
                <a16:creationId xmlns:a16="http://schemas.microsoft.com/office/drawing/2014/main" id="{8AD69BB9-2307-4A26-98AD-98BB1D4B9ECC}"/>
              </a:ext>
            </a:extLst>
          </p:cNvPr>
          <p:cNvSpPr/>
          <p:nvPr/>
        </p:nvSpPr>
        <p:spPr>
          <a:xfrm rot="19177951">
            <a:off x="3412431" y="3417359"/>
            <a:ext cx="195689" cy="185525"/>
          </a:xfrm>
          <a:prstGeom prst="triangle">
            <a:avLst/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pt-BR" sz="1200" kern="1200">
              <a:solidFill>
                <a:srgbClr val="FFFFFF"/>
              </a:solidFill>
              <a:latin typeface="Graphik" panose="020B0503030202060203" pitchFamily="34" charset="0"/>
            </a:endParaRPr>
          </a:p>
        </p:txBody>
      </p:sp>
      <p:sp>
        <p:nvSpPr>
          <p:cNvPr id="73" name="Isosceles Triangle 72">
            <a:extLst>
              <a:ext uri="{FF2B5EF4-FFF2-40B4-BE49-F238E27FC236}">
                <a16:creationId xmlns:a16="http://schemas.microsoft.com/office/drawing/2014/main" id="{89F2BC20-444D-4D85-A229-6C137A6C736F}"/>
              </a:ext>
            </a:extLst>
          </p:cNvPr>
          <p:cNvSpPr/>
          <p:nvPr/>
        </p:nvSpPr>
        <p:spPr>
          <a:xfrm rot="3899401">
            <a:off x="1622903" y="3805918"/>
            <a:ext cx="195689" cy="185525"/>
          </a:xfrm>
          <a:prstGeom prst="triangle">
            <a:avLst/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pt-BR" sz="1200" kern="1200">
              <a:solidFill>
                <a:srgbClr val="FFFFFF"/>
              </a:solidFill>
              <a:latin typeface="Graphik" panose="020B0503030202060203" pitchFamily="34" charset="0"/>
            </a:endParaRPr>
          </a:p>
        </p:txBody>
      </p:sp>
      <p:sp>
        <p:nvSpPr>
          <p:cNvPr id="74" name="Isosceles Triangle 73">
            <a:extLst>
              <a:ext uri="{FF2B5EF4-FFF2-40B4-BE49-F238E27FC236}">
                <a16:creationId xmlns:a16="http://schemas.microsoft.com/office/drawing/2014/main" id="{89248C73-0C20-4277-B504-E8C5B9FCBD1C}"/>
              </a:ext>
            </a:extLst>
          </p:cNvPr>
          <p:cNvSpPr/>
          <p:nvPr/>
        </p:nvSpPr>
        <p:spPr>
          <a:xfrm rot="3899401">
            <a:off x="2600117" y="3100171"/>
            <a:ext cx="195689" cy="185525"/>
          </a:xfrm>
          <a:prstGeom prst="triangle">
            <a:avLst/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pt-BR" sz="1200" kern="1200">
              <a:solidFill>
                <a:srgbClr val="FFFFFF"/>
              </a:solidFill>
              <a:latin typeface="Graphik" panose="020B0503030202060203" pitchFamily="34" charset="0"/>
            </a:endParaRPr>
          </a:p>
        </p:txBody>
      </p: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41F53999-39D7-4318-9FC4-7D9DFBFF6883}"/>
              </a:ext>
            </a:extLst>
          </p:cNvPr>
          <p:cNvSpPr/>
          <p:nvPr/>
        </p:nvSpPr>
        <p:spPr>
          <a:xfrm rot="5153509">
            <a:off x="5236945" y="3053644"/>
            <a:ext cx="195689" cy="185525"/>
          </a:xfrm>
          <a:prstGeom prst="triangle">
            <a:avLst/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pt-BR" sz="1200" kern="1200">
              <a:solidFill>
                <a:srgbClr val="FFFFFF"/>
              </a:solidFill>
              <a:latin typeface="Graphik" panose="020B0503030202060203" pitchFamily="34" charset="0"/>
            </a:endParaRPr>
          </a:p>
        </p:txBody>
      </p:sp>
      <p:sp>
        <p:nvSpPr>
          <p:cNvPr id="76" name="Isosceles Triangle 75">
            <a:extLst>
              <a:ext uri="{FF2B5EF4-FFF2-40B4-BE49-F238E27FC236}">
                <a16:creationId xmlns:a16="http://schemas.microsoft.com/office/drawing/2014/main" id="{84ED7BA0-57BD-49F7-A475-580E5A4155AC}"/>
              </a:ext>
            </a:extLst>
          </p:cNvPr>
          <p:cNvSpPr/>
          <p:nvPr/>
        </p:nvSpPr>
        <p:spPr>
          <a:xfrm rot="2801581">
            <a:off x="6627035" y="2375079"/>
            <a:ext cx="195689" cy="185525"/>
          </a:xfrm>
          <a:prstGeom prst="triangle">
            <a:avLst/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pt-BR" sz="1200" kern="1200">
              <a:solidFill>
                <a:srgbClr val="FFFFFF"/>
              </a:solidFill>
              <a:latin typeface="Graphik" panose="020B0503030202060203" pitchFamily="34" charset="0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B76FFB92-8BDD-4664-B358-0DCEBE377E84}"/>
              </a:ext>
            </a:extLst>
          </p:cNvPr>
          <p:cNvGrpSpPr/>
          <p:nvPr/>
        </p:nvGrpSpPr>
        <p:grpSpPr>
          <a:xfrm rot="384645" flipH="1">
            <a:off x="5753530" y="2541319"/>
            <a:ext cx="769514" cy="637964"/>
            <a:chOff x="7396910" y="3316321"/>
            <a:chExt cx="1128620" cy="935681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CD9A9943-A80E-4FB8-8ADE-3037578DACE0}"/>
                </a:ext>
              </a:extLst>
            </p:cNvPr>
            <p:cNvSpPr/>
            <p:nvPr/>
          </p:nvSpPr>
          <p:spPr>
            <a:xfrm>
              <a:off x="7396910" y="3316321"/>
              <a:ext cx="540000" cy="540000"/>
            </a:xfrm>
            <a:prstGeom prst="ellipse">
              <a:avLst/>
            </a:prstGeom>
            <a:solidFill>
              <a:schemeClr val="bg1"/>
            </a:solidFill>
            <a:ln w="47625" cap="flat" cmpd="sng" algn="ctr">
              <a:solidFill>
                <a:schemeClr val="accent3"/>
              </a:solidFill>
              <a:prstDash val="solid"/>
            </a:ln>
            <a:effectLst/>
          </p:spPr>
          <p:txBody>
            <a:bodyPr lIns="51435" tIns="25718" rIns="51435" bIns="25718" rtlCol="0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pt-BR" sz="788">
                <a:solidFill>
                  <a:srgbClr val="BD0022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A588D686-2488-417C-A85D-969E096B6C6F}"/>
                </a:ext>
              </a:extLst>
            </p:cNvPr>
            <p:cNvSpPr/>
            <p:nvPr/>
          </p:nvSpPr>
          <p:spPr>
            <a:xfrm>
              <a:off x="7593117" y="3448215"/>
              <a:ext cx="540000" cy="540000"/>
            </a:xfrm>
            <a:prstGeom prst="ellipse">
              <a:avLst/>
            </a:prstGeom>
            <a:solidFill>
              <a:schemeClr val="bg1"/>
            </a:solidFill>
            <a:ln w="47625" cap="flat" cmpd="sng" algn="ctr">
              <a:solidFill>
                <a:schemeClr val="accent3"/>
              </a:solidFill>
              <a:prstDash val="solid"/>
            </a:ln>
            <a:effectLst/>
          </p:spPr>
          <p:txBody>
            <a:bodyPr lIns="51435" tIns="25718" rIns="51435" bIns="25718" rtlCol="0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pt-BR" sz="788">
                <a:solidFill>
                  <a:srgbClr val="BD0022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F7B2E17B-19A0-491F-8BBF-D06E783330F8}"/>
                </a:ext>
              </a:extLst>
            </p:cNvPr>
            <p:cNvSpPr/>
            <p:nvPr/>
          </p:nvSpPr>
          <p:spPr>
            <a:xfrm>
              <a:off x="7789324" y="3580109"/>
              <a:ext cx="540000" cy="540000"/>
            </a:xfrm>
            <a:prstGeom prst="ellipse">
              <a:avLst/>
            </a:prstGeom>
            <a:solidFill>
              <a:schemeClr val="bg1"/>
            </a:solidFill>
            <a:ln w="47625" cap="flat" cmpd="sng" algn="ctr">
              <a:solidFill>
                <a:schemeClr val="accent3"/>
              </a:solidFill>
              <a:prstDash val="solid"/>
            </a:ln>
            <a:effectLst/>
          </p:spPr>
          <p:txBody>
            <a:bodyPr lIns="51435" tIns="25718" rIns="51435" bIns="25718" rtlCol="0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pt-BR" sz="788">
                <a:solidFill>
                  <a:srgbClr val="BD0022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093A4F79-DB3D-4E22-952A-6F59228C19C7}"/>
                </a:ext>
              </a:extLst>
            </p:cNvPr>
            <p:cNvSpPr/>
            <p:nvPr/>
          </p:nvSpPr>
          <p:spPr>
            <a:xfrm>
              <a:off x="7985530" y="3712002"/>
              <a:ext cx="540000" cy="540000"/>
            </a:xfrm>
            <a:prstGeom prst="ellipse">
              <a:avLst/>
            </a:prstGeom>
            <a:solidFill>
              <a:schemeClr val="bg1"/>
            </a:solidFill>
            <a:ln w="47625" cap="flat" cmpd="sng" algn="ctr">
              <a:solidFill>
                <a:schemeClr val="accent3"/>
              </a:solidFill>
              <a:prstDash val="solid"/>
            </a:ln>
            <a:effectLst/>
          </p:spPr>
          <p:txBody>
            <a:bodyPr lIns="51435" tIns="25718" rIns="51435" bIns="25718" rtlCol="0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pt-BR" sz="788">
                <a:solidFill>
                  <a:srgbClr val="BD0022"/>
                </a:solidFill>
                <a:latin typeface="Graphik" panose="020B0503030202060203" pitchFamily="34" charset="0"/>
              </a:endParaRPr>
            </a:p>
          </p:txBody>
        </p:sp>
      </p:grpSp>
      <p:sp>
        <p:nvSpPr>
          <p:cNvPr id="82" name="Oval 81">
            <a:extLst>
              <a:ext uri="{FF2B5EF4-FFF2-40B4-BE49-F238E27FC236}">
                <a16:creationId xmlns:a16="http://schemas.microsoft.com/office/drawing/2014/main" id="{D1C3D0FD-2584-4626-AD4E-C51292E9DB3B}"/>
              </a:ext>
            </a:extLst>
          </p:cNvPr>
          <p:cNvSpPr/>
          <p:nvPr/>
        </p:nvSpPr>
        <p:spPr>
          <a:xfrm>
            <a:off x="6887976" y="1875405"/>
            <a:ext cx="617621" cy="617621"/>
          </a:xfrm>
          <a:prstGeom prst="ellipse">
            <a:avLst/>
          </a:prstGeom>
          <a:solidFill>
            <a:schemeClr val="accent3"/>
          </a:solidFill>
          <a:ln w="47625" cap="flat" cmpd="sng" algn="ctr">
            <a:solidFill>
              <a:schemeClr val="accent3"/>
            </a:solidFill>
            <a:prstDash val="solid"/>
          </a:ln>
          <a:effectLst/>
        </p:spPr>
        <p:txBody>
          <a:bodyPr lIns="51435" tIns="25718" rIns="51435" bIns="25718"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pt-BR" sz="788">
              <a:solidFill>
                <a:srgbClr val="BD0022"/>
              </a:solidFill>
              <a:latin typeface="Graphik" panose="020B0503030202060203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FE9F059-5465-4372-BEA9-73950E0A5F2A}"/>
              </a:ext>
            </a:extLst>
          </p:cNvPr>
          <p:cNvSpPr txBox="1"/>
          <p:nvPr/>
        </p:nvSpPr>
        <p:spPr>
          <a:xfrm>
            <a:off x="6255481" y="3354318"/>
            <a:ext cx="1646510" cy="88742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385753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800" b="1" dirty="0">
                <a:solidFill>
                  <a:srgbClr val="2CB3A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7. ENTREGA DE VALOR</a:t>
            </a:r>
          </a:p>
          <a:p>
            <a:pPr marL="89297" indent="-89297" defTabSz="685800">
              <a:spcAft>
                <a:spcPts val="15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pt-BR" sz="800" kern="1200" dirty="0">
                <a:solidFill>
                  <a:srgbClr val="666666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Apresentação final de resultados da implementação as áreas interessadas</a:t>
            </a:r>
          </a:p>
          <a:p>
            <a:pPr marL="89297" indent="-89297"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pt-BR" sz="800" dirty="0">
                <a:solidFill>
                  <a:srgbClr val="66666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Criação de relatório final, com aprendizados e detalhes da implementação</a:t>
            </a:r>
            <a:endParaRPr lang="pt-BR" sz="800" kern="1200" dirty="0">
              <a:solidFill>
                <a:srgbClr val="666666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626E1E9B-2FA7-47C0-9581-AF9950B90893}"/>
              </a:ext>
            </a:extLst>
          </p:cNvPr>
          <p:cNvSpPr/>
          <p:nvPr/>
        </p:nvSpPr>
        <p:spPr>
          <a:xfrm>
            <a:off x="395767" y="3964452"/>
            <a:ext cx="134412" cy="134412"/>
          </a:xfrm>
          <a:prstGeom prst="ellipse">
            <a:avLst/>
          </a:prstGeom>
          <a:solidFill>
            <a:schemeClr val="bg1">
              <a:lumMod val="50000"/>
            </a:schemeClr>
          </a:solidFill>
          <a:ln w="44450"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pt-BR" sz="1200" kern="1200">
              <a:solidFill>
                <a:srgbClr val="BD0022"/>
              </a:solidFill>
              <a:latin typeface="Graphik" panose="020B0503030202060203" pitchFamily="34" charset="0"/>
            </a:endParaRP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2A97458-103A-4634-A20A-ADA7F60B23C5}"/>
              </a:ext>
            </a:extLst>
          </p:cNvPr>
          <p:cNvGrpSpPr/>
          <p:nvPr/>
        </p:nvGrpSpPr>
        <p:grpSpPr>
          <a:xfrm>
            <a:off x="3515314" y="2118036"/>
            <a:ext cx="1257545" cy="130457"/>
            <a:chOff x="5937201" y="2765364"/>
            <a:chExt cx="1676727" cy="173942"/>
          </a:xfrm>
        </p:grpSpPr>
        <p:sp>
          <p:nvSpPr>
            <p:cNvPr id="90" name="Isosceles Triangle 89">
              <a:extLst>
                <a:ext uri="{FF2B5EF4-FFF2-40B4-BE49-F238E27FC236}">
                  <a16:creationId xmlns:a16="http://schemas.microsoft.com/office/drawing/2014/main" id="{98D2644C-560F-4ECA-96EC-80C2A27617F4}"/>
                </a:ext>
              </a:extLst>
            </p:cNvPr>
            <p:cNvSpPr/>
            <p:nvPr/>
          </p:nvSpPr>
          <p:spPr>
            <a:xfrm rot="10800000">
              <a:off x="6624040" y="2788463"/>
              <a:ext cx="387511" cy="150843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pt-BR" sz="1200" kern="1200">
                <a:solidFill>
                  <a:srgbClr val="FFFFFF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8FD08848-25D2-4BB7-893F-5495BA4660B4}"/>
                </a:ext>
              </a:extLst>
            </p:cNvPr>
            <p:cNvSpPr/>
            <p:nvPr/>
          </p:nvSpPr>
          <p:spPr>
            <a:xfrm>
              <a:off x="5937201" y="2765364"/>
              <a:ext cx="1676727" cy="2346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pt-BR" sz="1200" kern="1200">
                <a:solidFill>
                  <a:srgbClr val="FFFFFF"/>
                </a:solidFill>
                <a:latin typeface="Graphik" panose="020B0503030202060203" pitchFamily="34" charset="0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4C4D310-AAF7-4FE7-A6DD-57DEA63818CB}"/>
              </a:ext>
            </a:extLst>
          </p:cNvPr>
          <p:cNvGrpSpPr/>
          <p:nvPr/>
        </p:nvGrpSpPr>
        <p:grpSpPr>
          <a:xfrm flipH="1">
            <a:off x="2086200" y="2749768"/>
            <a:ext cx="1039294" cy="130457"/>
            <a:chOff x="6565301" y="2765364"/>
            <a:chExt cx="1385725" cy="173942"/>
          </a:xfrm>
        </p:grpSpPr>
        <p:sp>
          <p:nvSpPr>
            <p:cNvPr id="93" name="Isosceles Triangle 92">
              <a:extLst>
                <a:ext uri="{FF2B5EF4-FFF2-40B4-BE49-F238E27FC236}">
                  <a16:creationId xmlns:a16="http://schemas.microsoft.com/office/drawing/2014/main" id="{269CAA7C-299A-4509-B92F-E9E62A7C10FE}"/>
                </a:ext>
              </a:extLst>
            </p:cNvPr>
            <p:cNvSpPr/>
            <p:nvPr/>
          </p:nvSpPr>
          <p:spPr>
            <a:xfrm rot="10800000">
              <a:off x="6624040" y="2788463"/>
              <a:ext cx="387511" cy="150843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pt-BR" sz="1200" kern="1200">
                <a:solidFill>
                  <a:srgbClr val="FFFFFF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275F3870-246B-4F31-A749-ACB91DD157B8}"/>
                </a:ext>
              </a:extLst>
            </p:cNvPr>
            <p:cNvSpPr/>
            <p:nvPr/>
          </p:nvSpPr>
          <p:spPr>
            <a:xfrm>
              <a:off x="6565301" y="2765364"/>
              <a:ext cx="1385725" cy="2346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pt-BR" sz="1200" kern="1200">
                <a:solidFill>
                  <a:srgbClr val="FFFFFF"/>
                </a:solidFill>
                <a:latin typeface="Graphik" panose="020B0503030202060203" pitchFamily="34" charset="0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30D12A1-CD45-40E0-84E7-285E3BFCEA92}"/>
              </a:ext>
            </a:extLst>
          </p:cNvPr>
          <p:cNvGrpSpPr/>
          <p:nvPr/>
        </p:nvGrpSpPr>
        <p:grpSpPr>
          <a:xfrm flipH="1">
            <a:off x="234962" y="3662293"/>
            <a:ext cx="1039294" cy="130457"/>
            <a:chOff x="6565301" y="2765364"/>
            <a:chExt cx="1385725" cy="173942"/>
          </a:xfrm>
        </p:grpSpPr>
        <p:sp>
          <p:nvSpPr>
            <p:cNvPr id="96" name="Isosceles Triangle 95">
              <a:extLst>
                <a:ext uri="{FF2B5EF4-FFF2-40B4-BE49-F238E27FC236}">
                  <a16:creationId xmlns:a16="http://schemas.microsoft.com/office/drawing/2014/main" id="{0BC40848-B6B2-4EEE-8300-04C3EFD6B64D}"/>
                </a:ext>
              </a:extLst>
            </p:cNvPr>
            <p:cNvSpPr/>
            <p:nvPr/>
          </p:nvSpPr>
          <p:spPr>
            <a:xfrm rot="10800000">
              <a:off x="6624040" y="2788463"/>
              <a:ext cx="387511" cy="150843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pt-BR" sz="1200" kern="1200">
                <a:solidFill>
                  <a:srgbClr val="FFFFFF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A247CB8D-F369-418B-9D1A-0812E538CCB2}"/>
                </a:ext>
              </a:extLst>
            </p:cNvPr>
            <p:cNvSpPr/>
            <p:nvPr/>
          </p:nvSpPr>
          <p:spPr>
            <a:xfrm>
              <a:off x="6565301" y="2765364"/>
              <a:ext cx="1385725" cy="2346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pt-BR" sz="1200" kern="1200">
                <a:solidFill>
                  <a:srgbClr val="FFFFFF"/>
                </a:solidFill>
                <a:latin typeface="Graphik" panose="020B0503030202060203" pitchFamily="34" charset="0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67D9B20-1043-480F-8697-E50662D44F9E}"/>
              </a:ext>
            </a:extLst>
          </p:cNvPr>
          <p:cNvGrpSpPr/>
          <p:nvPr/>
        </p:nvGrpSpPr>
        <p:grpSpPr>
          <a:xfrm flipV="1">
            <a:off x="4667894" y="3514987"/>
            <a:ext cx="1257546" cy="130457"/>
            <a:chOff x="6419799" y="2765364"/>
            <a:chExt cx="1676728" cy="173942"/>
          </a:xfrm>
        </p:grpSpPr>
        <p:sp>
          <p:nvSpPr>
            <p:cNvPr id="99" name="Isosceles Triangle 98">
              <a:extLst>
                <a:ext uri="{FF2B5EF4-FFF2-40B4-BE49-F238E27FC236}">
                  <a16:creationId xmlns:a16="http://schemas.microsoft.com/office/drawing/2014/main" id="{FAF9E1A0-5C60-4169-B547-106837BD503F}"/>
                </a:ext>
              </a:extLst>
            </p:cNvPr>
            <p:cNvSpPr/>
            <p:nvPr/>
          </p:nvSpPr>
          <p:spPr>
            <a:xfrm rot="10800000">
              <a:off x="6522440" y="2788463"/>
              <a:ext cx="387511" cy="150843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pt-BR" sz="1200" kern="1200">
                <a:solidFill>
                  <a:srgbClr val="FFFFFF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51EA91C-A769-4806-B298-900439AA34BA}"/>
                </a:ext>
              </a:extLst>
            </p:cNvPr>
            <p:cNvSpPr/>
            <p:nvPr/>
          </p:nvSpPr>
          <p:spPr>
            <a:xfrm>
              <a:off x="6419799" y="2765364"/>
              <a:ext cx="1676728" cy="2346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pt-BR" sz="1200" kern="1200">
                <a:solidFill>
                  <a:srgbClr val="FFFFFF"/>
                </a:solidFill>
                <a:latin typeface="Graphik" panose="020B0503030202060203" pitchFamily="34" charset="0"/>
              </a:endParaRPr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F4798A2F-839F-486A-B2EF-7A3838CA05A5}"/>
              </a:ext>
            </a:extLst>
          </p:cNvPr>
          <p:cNvSpPr txBox="1"/>
          <p:nvPr/>
        </p:nvSpPr>
        <p:spPr>
          <a:xfrm>
            <a:off x="7730394" y="1974371"/>
            <a:ext cx="1361758" cy="16158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385753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0" b="1" dirty="0">
                <a:solidFill>
                  <a:srgbClr val="E6226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ENTREGA DA PI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6368BE7A-B753-47E2-A11D-90194BB298C3}"/>
              </a:ext>
            </a:extLst>
          </p:cNvPr>
          <p:cNvGrpSpPr/>
          <p:nvPr/>
        </p:nvGrpSpPr>
        <p:grpSpPr>
          <a:xfrm rot="16200000" flipH="1" flipV="1">
            <a:off x="6769361" y="2248352"/>
            <a:ext cx="1673794" cy="130459"/>
            <a:chOff x="5771145" y="2765361"/>
            <a:chExt cx="2454897" cy="173945"/>
          </a:xfrm>
        </p:grpSpPr>
        <p:sp>
          <p:nvSpPr>
            <p:cNvPr id="109" name="Isosceles Triangle 108">
              <a:extLst>
                <a:ext uri="{FF2B5EF4-FFF2-40B4-BE49-F238E27FC236}">
                  <a16:creationId xmlns:a16="http://schemas.microsoft.com/office/drawing/2014/main" id="{D2416D5E-06D2-4027-9AE4-4F66108B5AA6}"/>
                </a:ext>
              </a:extLst>
            </p:cNvPr>
            <p:cNvSpPr/>
            <p:nvPr/>
          </p:nvSpPr>
          <p:spPr>
            <a:xfrm rot="10800000">
              <a:off x="6624040" y="2788463"/>
              <a:ext cx="387511" cy="150843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pt-BR" sz="1200" kern="1200">
                <a:solidFill>
                  <a:srgbClr val="FFFFFF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51C7E631-CE22-49A1-924F-43A82628453C}"/>
                </a:ext>
              </a:extLst>
            </p:cNvPr>
            <p:cNvSpPr/>
            <p:nvPr/>
          </p:nvSpPr>
          <p:spPr>
            <a:xfrm>
              <a:off x="5771145" y="2765361"/>
              <a:ext cx="2454897" cy="2346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pt-BR" sz="1200" kern="1200">
                <a:solidFill>
                  <a:srgbClr val="FFFFFF"/>
                </a:solidFill>
                <a:latin typeface="Graphik" panose="020B0503030202060203" pitchFamily="34" charset="0"/>
              </a:endParaRPr>
            </a:p>
          </p:txBody>
        </p:sp>
      </p:grpSp>
      <p:pic>
        <p:nvPicPr>
          <p:cNvPr id="112" name="Picture 45">
            <a:extLst>
              <a:ext uri="{FF2B5EF4-FFF2-40B4-BE49-F238E27FC236}">
                <a16:creationId xmlns:a16="http://schemas.microsoft.com/office/drawing/2014/main" id="{39EF5DA3-FFB0-497D-B6B6-07EEFBAF5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4116" y="3155687"/>
            <a:ext cx="352144" cy="352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3" name="Picture 47">
            <a:extLst>
              <a:ext uri="{FF2B5EF4-FFF2-40B4-BE49-F238E27FC236}">
                <a16:creationId xmlns:a16="http://schemas.microsoft.com/office/drawing/2014/main" id="{B891E76F-A7F8-4292-A9F9-D988A9993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005" y="2989140"/>
            <a:ext cx="264571" cy="264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4" name="Picture 4">
            <a:extLst>
              <a:ext uri="{FF2B5EF4-FFF2-40B4-BE49-F238E27FC236}">
                <a16:creationId xmlns:a16="http://schemas.microsoft.com/office/drawing/2014/main" id="{C0B5792D-1922-4B39-AF82-8FEADC95F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145" y="3875335"/>
            <a:ext cx="299846" cy="299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5" name="Picture 8">
            <a:extLst>
              <a:ext uri="{FF2B5EF4-FFF2-40B4-BE49-F238E27FC236}">
                <a16:creationId xmlns:a16="http://schemas.microsoft.com/office/drawing/2014/main" id="{726C865A-10C7-4FBE-8584-FC1955963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3766" y="3437740"/>
            <a:ext cx="235780" cy="235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17" name="Group 4">
            <a:extLst>
              <a:ext uri="{FF2B5EF4-FFF2-40B4-BE49-F238E27FC236}">
                <a16:creationId xmlns:a16="http://schemas.microsoft.com/office/drawing/2014/main" id="{0EE876BB-0225-42A8-B390-4B23124CC8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64012" y="2801731"/>
            <a:ext cx="318403" cy="302996"/>
            <a:chOff x="4658" y="2254"/>
            <a:chExt cx="248" cy="236"/>
          </a:xfrm>
          <a:solidFill>
            <a:schemeClr val="accent3"/>
          </a:solidFill>
        </p:grpSpPr>
        <p:sp>
          <p:nvSpPr>
            <p:cNvPr id="118" name="Freeform 5">
              <a:extLst>
                <a:ext uri="{FF2B5EF4-FFF2-40B4-BE49-F238E27FC236}">
                  <a16:creationId xmlns:a16="http://schemas.microsoft.com/office/drawing/2014/main" id="{E2FCC947-FC6B-4BCA-A4E8-7138AB1DFD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7" y="2289"/>
              <a:ext cx="130" cy="107"/>
            </a:xfrm>
            <a:custGeom>
              <a:avLst/>
              <a:gdLst>
                <a:gd name="T0" fmla="*/ 66 w 132"/>
                <a:gd name="T1" fmla="*/ 108 h 108"/>
                <a:gd name="T2" fmla="*/ 63 w 132"/>
                <a:gd name="T3" fmla="*/ 107 h 108"/>
                <a:gd name="T4" fmla="*/ 3 w 132"/>
                <a:gd name="T5" fmla="*/ 69 h 108"/>
                <a:gd name="T6" fmla="*/ 0 w 132"/>
                <a:gd name="T7" fmla="*/ 64 h 108"/>
                <a:gd name="T8" fmla="*/ 0 w 132"/>
                <a:gd name="T9" fmla="*/ 6 h 108"/>
                <a:gd name="T10" fmla="*/ 6 w 132"/>
                <a:gd name="T11" fmla="*/ 0 h 108"/>
                <a:gd name="T12" fmla="*/ 12 w 132"/>
                <a:gd name="T13" fmla="*/ 6 h 108"/>
                <a:gd name="T14" fmla="*/ 12 w 132"/>
                <a:gd name="T15" fmla="*/ 60 h 108"/>
                <a:gd name="T16" fmla="*/ 66 w 132"/>
                <a:gd name="T17" fmla="*/ 95 h 108"/>
                <a:gd name="T18" fmla="*/ 120 w 132"/>
                <a:gd name="T19" fmla="*/ 60 h 108"/>
                <a:gd name="T20" fmla="*/ 120 w 132"/>
                <a:gd name="T21" fmla="*/ 6 h 108"/>
                <a:gd name="T22" fmla="*/ 126 w 132"/>
                <a:gd name="T23" fmla="*/ 0 h 108"/>
                <a:gd name="T24" fmla="*/ 132 w 132"/>
                <a:gd name="T25" fmla="*/ 6 h 108"/>
                <a:gd name="T26" fmla="*/ 132 w 132"/>
                <a:gd name="T27" fmla="*/ 64 h 108"/>
                <a:gd name="T28" fmla="*/ 130 w 132"/>
                <a:gd name="T29" fmla="*/ 69 h 108"/>
                <a:gd name="T30" fmla="*/ 70 w 132"/>
                <a:gd name="T31" fmla="*/ 107 h 108"/>
                <a:gd name="T32" fmla="*/ 66 w 132"/>
                <a:gd name="T33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2" h="108">
                  <a:moveTo>
                    <a:pt x="66" y="108"/>
                  </a:moveTo>
                  <a:cubicBezTo>
                    <a:pt x="65" y="108"/>
                    <a:pt x="64" y="108"/>
                    <a:pt x="63" y="107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1" y="68"/>
                    <a:pt x="0" y="66"/>
                    <a:pt x="0" y="6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66" y="95"/>
                    <a:pt x="66" y="95"/>
                    <a:pt x="66" y="95"/>
                  </a:cubicBezTo>
                  <a:cubicBezTo>
                    <a:pt x="120" y="60"/>
                    <a:pt x="120" y="60"/>
                    <a:pt x="120" y="60"/>
                  </a:cubicBezTo>
                  <a:cubicBezTo>
                    <a:pt x="120" y="6"/>
                    <a:pt x="120" y="6"/>
                    <a:pt x="120" y="6"/>
                  </a:cubicBezTo>
                  <a:cubicBezTo>
                    <a:pt x="120" y="3"/>
                    <a:pt x="123" y="0"/>
                    <a:pt x="126" y="0"/>
                  </a:cubicBezTo>
                  <a:cubicBezTo>
                    <a:pt x="130" y="0"/>
                    <a:pt x="132" y="3"/>
                    <a:pt x="132" y="6"/>
                  </a:cubicBezTo>
                  <a:cubicBezTo>
                    <a:pt x="132" y="64"/>
                    <a:pt x="132" y="64"/>
                    <a:pt x="132" y="64"/>
                  </a:cubicBezTo>
                  <a:cubicBezTo>
                    <a:pt x="132" y="66"/>
                    <a:pt x="131" y="68"/>
                    <a:pt x="130" y="69"/>
                  </a:cubicBezTo>
                  <a:cubicBezTo>
                    <a:pt x="70" y="107"/>
                    <a:pt x="70" y="107"/>
                    <a:pt x="70" y="107"/>
                  </a:cubicBezTo>
                  <a:cubicBezTo>
                    <a:pt x="69" y="108"/>
                    <a:pt x="68" y="108"/>
                    <a:pt x="66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buClrTx/>
                <a:defRPr/>
              </a:pPr>
              <a:endParaRPr lang="pt-BR" sz="1200" kern="1200">
                <a:solidFill>
                  <a:srgbClr val="3F3F3F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119" name="Freeform 6">
              <a:extLst>
                <a:ext uri="{FF2B5EF4-FFF2-40B4-BE49-F238E27FC236}">
                  <a16:creationId xmlns:a16="http://schemas.microsoft.com/office/drawing/2014/main" id="{F5DCCFB3-1B9F-4896-8F57-BE7A9C81C5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17" y="2254"/>
              <a:ext cx="130" cy="83"/>
            </a:xfrm>
            <a:custGeom>
              <a:avLst/>
              <a:gdLst>
                <a:gd name="T0" fmla="*/ 66 w 132"/>
                <a:gd name="T1" fmla="*/ 84 h 84"/>
                <a:gd name="T2" fmla="*/ 63 w 132"/>
                <a:gd name="T3" fmla="*/ 83 h 84"/>
                <a:gd name="T4" fmla="*/ 3 w 132"/>
                <a:gd name="T5" fmla="*/ 47 h 84"/>
                <a:gd name="T6" fmla="*/ 0 w 132"/>
                <a:gd name="T7" fmla="*/ 42 h 84"/>
                <a:gd name="T8" fmla="*/ 3 w 132"/>
                <a:gd name="T9" fmla="*/ 37 h 84"/>
                <a:gd name="T10" fmla="*/ 63 w 132"/>
                <a:gd name="T11" fmla="*/ 1 h 84"/>
                <a:gd name="T12" fmla="*/ 70 w 132"/>
                <a:gd name="T13" fmla="*/ 1 h 84"/>
                <a:gd name="T14" fmla="*/ 130 w 132"/>
                <a:gd name="T15" fmla="*/ 37 h 84"/>
                <a:gd name="T16" fmla="*/ 132 w 132"/>
                <a:gd name="T17" fmla="*/ 42 h 84"/>
                <a:gd name="T18" fmla="*/ 130 w 132"/>
                <a:gd name="T19" fmla="*/ 47 h 84"/>
                <a:gd name="T20" fmla="*/ 70 w 132"/>
                <a:gd name="T21" fmla="*/ 83 h 84"/>
                <a:gd name="T22" fmla="*/ 66 w 132"/>
                <a:gd name="T23" fmla="*/ 84 h 84"/>
                <a:gd name="T24" fmla="*/ 18 w 132"/>
                <a:gd name="T25" fmla="*/ 42 h 84"/>
                <a:gd name="T26" fmla="*/ 66 w 132"/>
                <a:gd name="T27" fmla="*/ 71 h 84"/>
                <a:gd name="T28" fmla="*/ 115 w 132"/>
                <a:gd name="T29" fmla="*/ 42 h 84"/>
                <a:gd name="T30" fmla="*/ 66 w 132"/>
                <a:gd name="T31" fmla="*/ 13 h 84"/>
                <a:gd name="T32" fmla="*/ 18 w 132"/>
                <a:gd name="T33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2" h="84">
                  <a:moveTo>
                    <a:pt x="66" y="84"/>
                  </a:moveTo>
                  <a:cubicBezTo>
                    <a:pt x="65" y="84"/>
                    <a:pt x="64" y="84"/>
                    <a:pt x="63" y="83"/>
                  </a:cubicBezTo>
                  <a:cubicBezTo>
                    <a:pt x="3" y="47"/>
                    <a:pt x="3" y="47"/>
                    <a:pt x="3" y="47"/>
                  </a:cubicBezTo>
                  <a:cubicBezTo>
                    <a:pt x="2" y="46"/>
                    <a:pt x="0" y="44"/>
                    <a:pt x="0" y="42"/>
                  </a:cubicBezTo>
                  <a:cubicBezTo>
                    <a:pt x="0" y="40"/>
                    <a:pt x="2" y="38"/>
                    <a:pt x="3" y="37"/>
                  </a:cubicBezTo>
                  <a:cubicBezTo>
                    <a:pt x="63" y="1"/>
                    <a:pt x="63" y="1"/>
                    <a:pt x="63" y="1"/>
                  </a:cubicBezTo>
                  <a:cubicBezTo>
                    <a:pt x="65" y="0"/>
                    <a:pt x="68" y="0"/>
                    <a:pt x="70" y="1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1" y="38"/>
                    <a:pt x="132" y="40"/>
                    <a:pt x="132" y="42"/>
                  </a:cubicBezTo>
                  <a:cubicBezTo>
                    <a:pt x="132" y="44"/>
                    <a:pt x="131" y="46"/>
                    <a:pt x="130" y="47"/>
                  </a:cubicBezTo>
                  <a:cubicBezTo>
                    <a:pt x="70" y="83"/>
                    <a:pt x="70" y="83"/>
                    <a:pt x="70" y="83"/>
                  </a:cubicBezTo>
                  <a:cubicBezTo>
                    <a:pt x="69" y="84"/>
                    <a:pt x="68" y="84"/>
                    <a:pt x="66" y="84"/>
                  </a:cubicBezTo>
                  <a:close/>
                  <a:moveTo>
                    <a:pt x="18" y="42"/>
                  </a:moveTo>
                  <a:cubicBezTo>
                    <a:pt x="66" y="71"/>
                    <a:pt x="66" y="71"/>
                    <a:pt x="66" y="71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66" y="13"/>
                    <a:pt x="66" y="13"/>
                    <a:pt x="66" y="13"/>
                  </a:cubicBezTo>
                  <a:lnTo>
                    <a:pt x="18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buClrTx/>
                <a:defRPr/>
              </a:pPr>
              <a:endParaRPr lang="pt-BR" sz="1200" kern="1200">
                <a:solidFill>
                  <a:srgbClr val="3F3F3F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120" name="Freeform 7">
              <a:extLst>
                <a:ext uri="{FF2B5EF4-FFF2-40B4-BE49-F238E27FC236}">
                  <a16:creationId xmlns:a16="http://schemas.microsoft.com/office/drawing/2014/main" id="{7247D426-7D28-42C3-A880-7E7089500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" y="2325"/>
              <a:ext cx="12" cy="71"/>
            </a:xfrm>
            <a:custGeom>
              <a:avLst/>
              <a:gdLst>
                <a:gd name="T0" fmla="*/ 6 w 12"/>
                <a:gd name="T1" fmla="*/ 72 h 72"/>
                <a:gd name="T2" fmla="*/ 0 w 12"/>
                <a:gd name="T3" fmla="*/ 66 h 72"/>
                <a:gd name="T4" fmla="*/ 0 w 12"/>
                <a:gd name="T5" fmla="*/ 6 h 72"/>
                <a:gd name="T6" fmla="*/ 6 w 12"/>
                <a:gd name="T7" fmla="*/ 0 h 72"/>
                <a:gd name="T8" fmla="*/ 12 w 12"/>
                <a:gd name="T9" fmla="*/ 6 h 72"/>
                <a:gd name="T10" fmla="*/ 12 w 12"/>
                <a:gd name="T11" fmla="*/ 66 h 72"/>
                <a:gd name="T12" fmla="*/ 6 w 12"/>
                <a:gd name="T13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72">
                  <a:moveTo>
                    <a:pt x="6" y="72"/>
                  </a:moveTo>
                  <a:cubicBezTo>
                    <a:pt x="3" y="72"/>
                    <a:pt x="0" y="70"/>
                    <a:pt x="0" y="6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70"/>
                    <a:pt x="10" y="72"/>
                    <a:pt x="6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buClrTx/>
                <a:defRPr/>
              </a:pPr>
              <a:endParaRPr lang="pt-BR" sz="1200" kern="1200">
                <a:solidFill>
                  <a:srgbClr val="3F3F3F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121" name="Freeform 8">
              <a:extLst>
                <a:ext uri="{FF2B5EF4-FFF2-40B4-BE49-F238E27FC236}">
                  <a16:creationId xmlns:a16="http://schemas.microsoft.com/office/drawing/2014/main" id="{90DB081C-152D-4255-A7BC-0372171C2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" y="2384"/>
              <a:ext cx="130" cy="106"/>
            </a:xfrm>
            <a:custGeom>
              <a:avLst/>
              <a:gdLst>
                <a:gd name="T0" fmla="*/ 66 w 132"/>
                <a:gd name="T1" fmla="*/ 108 h 108"/>
                <a:gd name="T2" fmla="*/ 63 w 132"/>
                <a:gd name="T3" fmla="*/ 107 h 108"/>
                <a:gd name="T4" fmla="*/ 3 w 132"/>
                <a:gd name="T5" fmla="*/ 69 h 108"/>
                <a:gd name="T6" fmla="*/ 0 w 132"/>
                <a:gd name="T7" fmla="*/ 64 h 108"/>
                <a:gd name="T8" fmla="*/ 0 w 132"/>
                <a:gd name="T9" fmla="*/ 6 h 108"/>
                <a:gd name="T10" fmla="*/ 6 w 132"/>
                <a:gd name="T11" fmla="*/ 0 h 108"/>
                <a:gd name="T12" fmla="*/ 12 w 132"/>
                <a:gd name="T13" fmla="*/ 6 h 108"/>
                <a:gd name="T14" fmla="*/ 12 w 132"/>
                <a:gd name="T15" fmla="*/ 60 h 108"/>
                <a:gd name="T16" fmla="*/ 66 w 132"/>
                <a:gd name="T17" fmla="*/ 95 h 108"/>
                <a:gd name="T18" fmla="*/ 120 w 132"/>
                <a:gd name="T19" fmla="*/ 60 h 108"/>
                <a:gd name="T20" fmla="*/ 120 w 132"/>
                <a:gd name="T21" fmla="*/ 6 h 108"/>
                <a:gd name="T22" fmla="*/ 126 w 132"/>
                <a:gd name="T23" fmla="*/ 0 h 108"/>
                <a:gd name="T24" fmla="*/ 132 w 132"/>
                <a:gd name="T25" fmla="*/ 6 h 108"/>
                <a:gd name="T26" fmla="*/ 132 w 132"/>
                <a:gd name="T27" fmla="*/ 64 h 108"/>
                <a:gd name="T28" fmla="*/ 130 w 132"/>
                <a:gd name="T29" fmla="*/ 69 h 108"/>
                <a:gd name="T30" fmla="*/ 70 w 132"/>
                <a:gd name="T31" fmla="*/ 107 h 108"/>
                <a:gd name="T32" fmla="*/ 66 w 132"/>
                <a:gd name="T33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2" h="108">
                  <a:moveTo>
                    <a:pt x="66" y="108"/>
                  </a:moveTo>
                  <a:cubicBezTo>
                    <a:pt x="65" y="108"/>
                    <a:pt x="64" y="108"/>
                    <a:pt x="63" y="107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1" y="68"/>
                    <a:pt x="0" y="66"/>
                    <a:pt x="0" y="6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66" y="95"/>
                    <a:pt x="66" y="95"/>
                    <a:pt x="66" y="95"/>
                  </a:cubicBezTo>
                  <a:cubicBezTo>
                    <a:pt x="120" y="60"/>
                    <a:pt x="120" y="60"/>
                    <a:pt x="120" y="60"/>
                  </a:cubicBezTo>
                  <a:cubicBezTo>
                    <a:pt x="120" y="6"/>
                    <a:pt x="120" y="6"/>
                    <a:pt x="120" y="6"/>
                  </a:cubicBezTo>
                  <a:cubicBezTo>
                    <a:pt x="120" y="3"/>
                    <a:pt x="123" y="0"/>
                    <a:pt x="126" y="0"/>
                  </a:cubicBezTo>
                  <a:cubicBezTo>
                    <a:pt x="130" y="0"/>
                    <a:pt x="132" y="3"/>
                    <a:pt x="132" y="6"/>
                  </a:cubicBezTo>
                  <a:cubicBezTo>
                    <a:pt x="132" y="64"/>
                    <a:pt x="132" y="64"/>
                    <a:pt x="132" y="64"/>
                  </a:cubicBezTo>
                  <a:cubicBezTo>
                    <a:pt x="132" y="66"/>
                    <a:pt x="131" y="68"/>
                    <a:pt x="130" y="69"/>
                  </a:cubicBezTo>
                  <a:cubicBezTo>
                    <a:pt x="70" y="107"/>
                    <a:pt x="70" y="107"/>
                    <a:pt x="70" y="107"/>
                  </a:cubicBezTo>
                  <a:cubicBezTo>
                    <a:pt x="69" y="108"/>
                    <a:pt x="68" y="108"/>
                    <a:pt x="66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buClrTx/>
                <a:defRPr/>
              </a:pPr>
              <a:endParaRPr lang="pt-BR" sz="1200" kern="1200">
                <a:solidFill>
                  <a:srgbClr val="3F3F3F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122" name="Freeform 9">
              <a:extLst>
                <a:ext uri="{FF2B5EF4-FFF2-40B4-BE49-F238E27FC236}">
                  <a16:creationId xmlns:a16="http://schemas.microsoft.com/office/drawing/2014/main" id="{29269C34-3221-4783-92AF-11F6CD4C9F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76" y="2345"/>
              <a:ext cx="130" cy="86"/>
            </a:xfrm>
            <a:custGeom>
              <a:avLst/>
              <a:gdLst>
                <a:gd name="T0" fmla="*/ 66 w 132"/>
                <a:gd name="T1" fmla="*/ 87 h 87"/>
                <a:gd name="T2" fmla="*/ 63 w 132"/>
                <a:gd name="T3" fmla="*/ 86 h 87"/>
                <a:gd name="T4" fmla="*/ 3 w 132"/>
                <a:gd name="T5" fmla="*/ 50 h 87"/>
                <a:gd name="T6" fmla="*/ 0 w 132"/>
                <a:gd name="T7" fmla="*/ 45 h 87"/>
                <a:gd name="T8" fmla="*/ 3 w 132"/>
                <a:gd name="T9" fmla="*/ 40 h 87"/>
                <a:gd name="T10" fmla="*/ 63 w 132"/>
                <a:gd name="T11" fmla="*/ 2 h 87"/>
                <a:gd name="T12" fmla="*/ 70 w 132"/>
                <a:gd name="T13" fmla="*/ 2 h 87"/>
                <a:gd name="T14" fmla="*/ 130 w 132"/>
                <a:gd name="T15" fmla="*/ 40 h 87"/>
                <a:gd name="T16" fmla="*/ 132 w 132"/>
                <a:gd name="T17" fmla="*/ 45 h 87"/>
                <a:gd name="T18" fmla="*/ 130 w 132"/>
                <a:gd name="T19" fmla="*/ 50 h 87"/>
                <a:gd name="T20" fmla="*/ 70 w 132"/>
                <a:gd name="T21" fmla="*/ 86 h 87"/>
                <a:gd name="T22" fmla="*/ 66 w 132"/>
                <a:gd name="T23" fmla="*/ 87 h 87"/>
                <a:gd name="T24" fmla="*/ 18 w 132"/>
                <a:gd name="T25" fmla="*/ 45 h 87"/>
                <a:gd name="T26" fmla="*/ 66 w 132"/>
                <a:gd name="T27" fmla="*/ 74 h 87"/>
                <a:gd name="T28" fmla="*/ 115 w 132"/>
                <a:gd name="T29" fmla="*/ 45 h 87"/>
                <a:gd name="T30" fmla="*/ 66 w 132"/>
                <a:gd name="T31" fmla="*/ 14 h 87"/>
                <a:gd name="T32" fmla="*/ 18 w 132"/>
                <a:gd name="T33" fmla="*/ 45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2" h="87">
                  <a:moveTo>
                    <a:pt x="66" y="87"/>
                  </a:moveTo>
                  <a:cubicBezTo>
                    <a:pt x="65" y="87"/>
                    <a:pt x="64" y="87"/>
                    <a:pt x="63" y="86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2" y="49"/>
                    <a:pt x="0" y="47"/>
                    <a:pt x="0" y="45"/>
                  </a:cubicBezTo>
                  <a:cubicBezTo>
                    <a:pt x="0" y="43"/>
                    <a:pt x="1" y="41"/>
                    <a:pt x="3" y="40"/>
                  </a:cubicBezTo>
                  <a:cubicBezTo>
                    <a:pt x="63" y="2"/>
                    <a:pt x="63" y="2"/>
                    <a:pt x="63" y="2"/>
                  </a:cubicBezTo>
                  <a:cubicBezTo>
                    <a:pt x="65" y="0"/>
                    <a:pt x="68" y="0"/>
                    <a:pt x="70" y="2"/>
                  </a:cubicBezTo>
                  <a:cubicBezTo>
                    <a:pt x="130" y="40"/>
                    <a:pt x="130" y="40"/>
                    <a:pt x="130" y="40"/>
                  </a:cubicBezTo>
                  <a:cubicBezTo>
                    <a:pt x="131" y="41"/>
                    <a:pt x="132" y="43"/>
                    <a:pt x="132" y="45"/>
                  </a:cubicBezTo>
                  <a:cubicBezTo>
                    <a:pt x="132" y="47"/>
                    <a:pt x="131" y="49"/>
                    <a:pt x="130" y="50"/>
                  </a:cubicBezTo>
                  <a:cubicBezTo>
                    <a:pt x="70" y="86"/>
                    <a:pt x="70" y="86"/>
                    <a:pt x="70" y="86"/>
                  </a:cubicBezTo>
                  <a:cubicBezTo>
                    <a:pt x="69" y="87"/>
                    <a:pt x="68" y="87"/>
                    <a:pt x="66" y="87"/>
                  </a:cubicBezTo>
                  <a:close/>
                  <a:moveTo>
                    <a:pt x="18" y="45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115" y="45"/>
                    <a:pt x="115" y="45"/>
                    <a:pt x="115" y="45"/>
                  </a:cubicBezTo>
                  <a:cubicBezTo>
                    <a:pt x="66" y="14"/>
                    <a:pt x="66" y="14"/>
                    <a:pt x="66" y="14"/>
                  </a:cubicBezTo>
                  <a:lnTo>
                    <a:pt x="18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buClrTx/>
                <a:defRPr/>
              </a:pPr>
              <a:endParaRPr lang="pt-BR" sz="1200" kern="1200">
                <a:solidFill>
                  <a:srgbClr val="3F3F3F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123" name="Freeform 10">
              <a:extLst>
                <a:ext uri="{FF2B5EF4-FFF2-40B4-BE49-F238E27FC236}">
                  <a16:creationId xmlns:a16="http://schemas.microsoft.com/office/drawing/2014/main" id="{3057B65B-EC98-4481-95F4-354CDD83B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5" y="2419"/>
              <a:ext cx="12" cy="71"/>
            </a:xfrm>
            <a:custGeom>
              <a:avLst/>
              <a:gdLst>
                <a:gd name="T0" fmla="*/ 6 w 12"/>
                <a:gd name="T1" fmla="*/ 72 h 72"/>
                <a:gd name="T2" fmla="*/ 0 w 12"/>
                <a:gd name="T3" fmla="*/ 66 h 72"/>
                <a:gd name="T4" fmla="*/ 0 w 12"/>
                <a:gd name="T5" fmla="*/ 6 h 72"/>
                <a:gd name="T6" fmla="*/ 6 w 12"/>
                <a:gd name="T7" fmla="*/ 0 h 72"/>
                <a:gd name="T8" fmla="*/ 12 w 12"/>
                <a:gd name="T9" fmla="*/ 6 h 72"/>
                <a:gd name="T10" fmla="*/ 12 w 12"/>
                <a:gd name="T11" fmla="*/ 66 h 72"/>
                <a:gd name="T12" fmla="*/ 6 w 12"/>
                <a:gd name="T13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72">
                  <a:moveTo>
                    <a:pt x="6" y="72"/>
                  </a:moveTo>
                  <a:cubicBezTo>
                    <a:pt x="3" y="72"/>
                    <a:pt x="0" y="70"/>
                    <a:pt x="0" y="6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70"/>
                    <a:pt x="10" y="72"/>
                    <a:pt x="6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buClrTx/>
                <a:defRPr/>
              </a:pPr>
              <a:endParaRPr lang="pt-BR" sz="1200" kern="1200">
                <a:solidFill>
                  <a:srgbClr val="3F3F3F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124" name="Freeform 11">
              <a:extLst>
                <a:ext uri="{FF2B5EF4-FFF2-40B4-BE49-F238E27FC236}">
                  <a16:creationId xmlns:a16="http://schemas.microsoft.com/office/drawing/2014/main" id="{4D19DBA1-82EE-4045-91E7-32E95C034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8" y="2384"/>
              <a:ext cx="130" cy="106"/>
            </a:xfrm>
            <a:custGeom>
              <a:avLst/>
              <a:gdLst>
                <a:gd name="T0" fmla="*/ 66 w 132"/>
                <a:gd name="T1" fmla="*/ 108 h 108"/>
                <a:gd name="T2" fmla="*/ 63 w 132"/>
                <a:gd name="T3" fmla="*/ 107 h 108"/>
                <a:gd name="T4" fmla="*/ 3 w 132"/>
                <a:gd name="T5" fmla="*/ 69 h 108"/>
                <a:gd name="T6" fmla="*/ 0 w 132"/>
                <a:gd name="T7" fmla="*/ 64 h 108"/>
                <a:gd name="T8" fmla="*/ 0 w 132"/>
                <a:gd name="T9" fmla="*/ 6 h 108"/>
                <a:gd name="T10" fmla="*/ 6 w 132"/>
                <a:gd name="T11" fmla="*/ 0 h 108"/>
                <a:gd name="T12" fmla="*/ 12 w 132"/>
                <a:gd name="T13" fmla="*/ 6 h 108"/>
                <a:gd name="T14" fmla="*/ 12 w 132"/>
                <a:gd name="T15" fmla="*/ 60 h 108"/>
                <a:gd name="T16" fmla="*/ 66 w 132"/>
                <a:gd name="T17" fmla="*/ 95 h 108"/>
                <a:gd name="T18" fmla="*/ 120 w 132"/>
                <a:gd name="T19" fmla="*/ 60 h 108"/>
                <a:gd name="T20" fmla="*/ 120 w 132"/>
                <a:gd name="T21" fmla="*/ 6 h 108"/>
                <a:gd name="T22" fmla="*/ 126 w 132"/>
                <a:gd name="T23" fmla="*/ 0 h 108"/>
                <a:gd name="T24" fmla="*/ 132 w 132"/>
                <a:gd name="T25" fmla="*/ 6 h 108"/>
                <a:gd name="T26" fmla="*/ 132 w 132"/>
                <a:gd name="T27" fmla="*/ 64 h 108"/>
                <a:gd name="T28" fmla="*/ 130 w 132"/>
                <a:gd name="T29" fmla="*/ 69 h 108"/>
                <a:gd name="T30" fmla="*/ 70 w 132"/>
                <a:gd name="T31" fmla="*/ 107 h 108"/>
                <a:gd name="T32" fmla="*/ 66 w 132"/>
                <a:gd name="T33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2" h="108">
                  <a:moveTo>
                    <a:pt x="66" y="108"/>
                  </a:moveTo>
                  <a:cubicBezTo>
                    <a:pt x="65" y="108"/>
                    <a:pt x="64" y="108"/>
                    <a:pt x="63" y="107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1" y="68"/>
                    <a:pt x="0" y="66"/>
                    <a:pt x="0" y="6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66" y="95"/>
                    <a:pt x="66" y="95"/>
                    <a:pt x="66" y="95"/>
                  </a:cubicBezTo>
                  <a:cubicBezTo>
                    <a:pt x="120" y="60"/>
                    <a:pt x="120" y="60"/>
                    <a:pt x="120" y="60"/>
                  </a:cubicBezTo>
                  <a:cubicBezTo>
                    <a:pt x="120" y="6"/>
                    <a:pt x="120" y="6"/>
                    <a:pt x="120" y="6"/>
                  </a:cubicBezTo>
                  <a:cubicBezTo>
                    <a:pt x="120" y="3"/>
                    <a:pt x="123" y="0"/>
                    <a:pt x="126" y="0"/>
                  </a:cubicBezTo>
                  <a:cubicBezTo>
                    <a:pt x="130" y="0"/>
                    <a:pt x="132" y="3"/>
                    <a:pt x="132" y="6"/>
                  </a:cubicBezTo>
                  <a:cubicBezTo>
                    <a:pt x="132" y="64"/>
                    <a:pt x="132" y="64"/>
                    <a:pt x="132" y="64"/>
                  </a:cubicBezTo>
                  <a:cubicBezTo>
                    <a:pt x="132" y="66"/>
                    <a:pt x="131" y="68"/>
                    <a:pt x="130" y="69"/>
                  </a:cubicBezTo>
                  <a:cubicBezTo>
                    <a:pt x="70" y="107"/>
                    <a:pt x="70" y="107"/>
                    <a:pt x="70" y="107"/>
                  </a:cubicBezTo>
                  <a:cubicBezTo>
                    <a:pt x="69" y="108"/>
                    <a:pt x="68" y="108"/>
                    <a:pt x="66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buClrTx/>
                <a:defRPr/>
              </a:pPr>
              <a:endParaRPr lang="pt-BR" sz="1200" kern="1200">
                <a:solidFill>
                  <a:srgbClr val="3F3F3F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125" name="Freeform 12">
              <a:extLst>
                <a:ext uri="{FF2B5EF4-FFF2-40B4-BE49-F238E27FC236}">
                  <a16:creationId xmlns:a16="http://schemas.microsoft.com/office/drawing/2014/main" id="{2A029169-7978-4FC1-9454-CA60087BF2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8" y="2345"/>
              <a:ext cx="130" cy="86"/>
            </a:xfrm>
            <a:custGeom>
              <a:avLst/>
              <a:gdLst>
                <a:gd name="T0" fmla="*/ 66 w 132"/>
                <a:gd name="T1" fmla="*/ 87 h 87"/>
                <a:gd name="T2" fmla="*/ 63 w 132"/>
                <a:gd name="T3" fmla="*/ 86 h 87"/>
                <a:gd name="T4" fmla="*/ 3 w 132"/>
                <a:gd name="T5" fmla="*/ 50 h 87"/>
                <a:gd name="T6" fmla="*/ 0 w 132"/>
                <a:gd name="T7" fmla="*/ 45 h 87"/>
                <a:gd name="T8" fmla="*/ 3 w 132"/>
                <a:gd name="T9" fmla="*/ 40 h 87"/>
                <a:gd name="T10" fmla="*/ 63 w 132"/>
                <a:gd name="T11" fmla="*/ 2 h 87"/>
                <a:gd name="T12" fmla="*/ 70 w 132"/>
                <a:gd name="T13" fmla="*/ 2 h 87"/>
                <a:gd name="T14" fmla="*/ 130 w 132"/>
                <a:gd name="T15" fmla="*/ 40 h 87"/>
                <a:gd name="T16" fmla="*/ 132 w 132"/>
                <a:gd name="T17" fmla="*/ 45 h 87"/>
                <a:gd name="T18" fmla="*/ 130 w 132"/>
                <a:gd name="T19" fmla="*/ 50 h 87"/>
                <a:gd name="T20" fmla="*/ 70 w 132"/>
                <a:gd name="T21" fmla="*/ 86 h 87"/>
                <a:gd name="T22" fmla="*/ 66 w 132"/>
                <a:gd name="T23" fmla="*/ 87 h 87"/>
                <a:gd name="T24" fmla="*/ 18 w 132"/>
                <a:gd name="T25" fmla="*/ 45 h 87"/>
                <a:gd name="T26" fmla="*/ 66 w 132"/>
                <a:gd name="T27" fmla="*/ 74 h 87"/>
                <a:gd name="T28" fmla="*/ 115 w 132"/>
                <a:gd name="T29" fmla="*/ 45 h 87"/>
                <a:gd name="T30" fmla="*/ 66 w 132"/>
                <a:gd name="T31" fmla="*/ 14 h 87"/>
                <a:gd name="T32" fmla="*/ 18 w 132"/>
                <a:gd name="T33" fmla="*/ 45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2" h="87">
                  <a:moveTo>
                    <a:pt x="66" y="87"/>
                  </a:moveTo>
                  <a:cubicBezTo>
                    <a:pt x="65" y="87"/>
                    <a:pt x="64" y="87"/>
                    <a:pt x="63" y="86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2" y="49"/>
                    <a:pt x="0" y="47"/>
                    <a:pt x="0" y="45"/>
                  </a:cubicBezTo>
                  <a:cubicBezTo>
                    <a:pt x="0" y="43"/>
                    <a:pt x="1" y="41"/>
                    <a:pt x="3" y="40"/>
                  </a:cubicBezTo>
                  <a:cubicBezTo>
                    <a:pt x="63" y="2"/>
                    <a:pt x="63" y="2"/>
                    <a:pt x="63" y="2"/>
                  </a:cubicBezTo>
                  <a:cubicBezTo>
                    <a:pt x="65" y="0"/>
                    <a:pt x="68" y="0"/>
                    <a:pt x="70" y="2"/>
                  </a:cubicBezTo>
                  <a:cubicBezTo>
                    <a:pt x="130" y="40"/>
                    <a:pt x="130" y="40"/>
                    <a:pt x="130" y="40"/>
                  </a:cubicBezTo>
                  <a:cubicBezTo>
                    <a:pt x="131" y="41"/>
                    <a:pt x="132" y="43"/>
                    <a:pt x="132" y="45"/>
                  </a:cubicBezTo>
                  <a:cubicBezTo>
                    <a:pt x="132" y="47"/>
                    <a:pt x="131" y="49"/>
                    <a:pt x="130" y="50"/>
                  </a:cubicBezTo>
                  <a:cubicBezTo>
                    <a:pt x="70" y="86"/>
                    <a:pt x="70" y="86"/>
                    <a:pt x="70" y="86"/>
                  </a:cubicBezTo>
                  <a:cubicBezTo>
                    <a:pt x="69" y="87"/>
                    <a:pt x="68" y="87"/>
                    <a:pt x="66" y="87"/>
                  </a:cubicBezTo>
                  <a:close/>
                  <a:moveTo>
                    <a:pt x="18" y="45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115" y="45"/>
                    <a:pt x="115" y="45"/>
                    <a:pt x="115" y="45"/>
                  </a:cubicBezTo>
                  <a:cubicBezTo>
                    <a:pt x="66" y="14"/>
                    <a:pt x="66" y="14"/>
                    <a:pt x="66" y="14"/>
                  </a:cubicBezTo>
                  <a:lnTo>
                    <a:pt x="18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buClrTx/>
                <a:defRPr/>
              </a:pPr>
              <a:endParaRPr lang="pt-BR" sz="1200" kern="1200">
                <a:solidFill>
                  <a:srgbClr val="3F3F3F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126" name="Freeform 13">
              <a:extLst>
                <a:ext uri="{FF2B5EF4-FFF2-40B4-BE49-F238E27FC236}">
                  <a16:creationId xmlns:a16="http://schemas.microsoft.com/office/drawing/2014/main" id="{57A38882-2C6D-4F65-B01C-836FA3D9FD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7" y="2419"/>
              <a:ext cx="12" cy="71"/>
            </a:xfrm>
            <a:custGeom>
              <a:avLst/>
              <a:gdLst>
                <a:gd name="T0" fmla="*/ 6 w 12"/>
                <a:gd name="T1" fmla="*/ 72 h 72"/>
                <a:gd name="T2" fmla="*/ 0 w 12"/>
                <a:gd name="T3" fmla="*/ 66 h 72"/>
                <a:gd name="T4" fmla="*/ 0 w 12"/>
                <a:gd name="T5" fmla="*/ 6 h 72"/>
                <a:gd name="T6" fmla="*/ 6 w 12"/>
                <a:gd name="T7" fmla="*/ 0 h 72"/>
                <a:gd name="T8" fmla="*/ 12 w 12"/>
                <a:gd name="T9" fmla="*/ 6 h 72"/>
                <a:gd name="T10" fmla="*/ 12 w 12"/>
                <a:gd name="T11" fmla="*/ 66 h 72"/>
                <a:gd name="T12" fmla="*/ 6 w 12"/>
                <a:gd name="T13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72">
                  <a:moveTo>
                    <a:pt x="6" y="72"/>
                  </a:moveTo>
                  <a:cubicBezTo>
                    <a:pt x="3" y="72"/>
                    <a:pt x="0" y="70"/>
                    <a:pt x="0" y="6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70"/>
                    <a:pt x="10" y="72"/>
                    <a:pt x="6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buClrTx/>
                <a:defRPr/>
              </a:pPr>
              <a:endParaRPr lang="pt-BR" sz="1200" kern="1200">
                <a:solidFill>
                  <a:srgbClr val="3F3F3F"/>
                </a:solidFill>
                <a:latin typeface="Graphik" panose="020B0503030202060203" pitchFamily="34" charset="0"/>
              </a:endParaRPr>
            </a:p>
          </p:txBody>
        </p:sp>
      </p:grpSp>
      <p:pic>
        <p:nvPicPr>
          <p:cNvPr id="127" name="Picture 13">
            <a:extLst>
              <a:ext uri="{FF2B5EF4-FFF2-40B4-BE49-F238E27FC236}">
                <a16:creationId xmlns:a16="http://schemas.microsoft.com/office/drawing/2014/main" id="{4F708D45-4400-4D53-8261-64637979E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1898" y="2362160"/>
            <a:ext cx="264571" cy="264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8" name="Oval 127">
            <a:extLst>
              <a:ext uri="{FF2B5EF4-FFF2-40B4-BE49-F238E27FC236}">
                <a16:creationId xmlns:a16="http://schemas.microsoft.com/office/drawing/2014/main" id="{285D1904-4B30-4794-9A70-FB870995DD10}"/>
              </a:ext>
            </a:extLst>
          </p:cNvPr>
          <p:cNvSpPr/>
          <p:nvPr/>
        </p:nvSpPr>
        <p:spPr>
          <a:xfrm rot="20077951">
            <a:off x="3729033" y="3582207"/>
            <a:ext cx="348631" cy="348631"/>
          </a:xfrm>
          <a:prstGeom prst="ellipse">
            <a:avLst/>
          </a:prstGeom>
          <a:solidFill>
            <a:schemeClr val="bg1"/>
          </a:solidFill>
          <a:ln w="44450"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pt-BR" sz="1200" kern="1200">
              <a:solidFill>
                <a:srgbClr val="BD0022"/>
              </a:solidFill>
              <a:latin typeface="Graphik" panose="020B0503030202060203" pitchFamily="34" charset="0"/>
            </a:endParaRPr>
          </a:p>
        </p:txBody>
      </p:sp>
      <p:sp>
        <p:nvSpPr>
          <p:cNvPr id="129" name="Isosceles Triangle 128">
            <a:extLst>
              <a:ext uri="{FF2B5EF4-FFF2-40B4-BE49-F238E27FC236}">
                <a16:creationId xmlns:a16="http://schemas.microsoft.com/office/drawing/2014/main" id="{78466E8C-600D-430C-B2A7-124052E71D78}"/>
              </a:ext>
            </a:extLst>
          </p:cNvPr>
          <p:cNvSpPr/>
          <p:nvPr/>
        </p:nvSpPr>
        <p:spPr>
          <a:xfrm rot="14162279">
            <a:off x="4233255" y="3587963"/>
            <a:ext cx="195689" cy="185525"/>
          </a:xfrm>
          <a:prstGeom prst="triangle">
            <a:avLst/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pt-BR" sz="1200" kern="1200">
              <a:solidFill>
                <a:srgbClr val="FFFFFF"/>
              </a:solidFill>
              <a:latin typeface="Graphik" panose="020B0503030202060203" pitchFamily="34" charset="0"/>
            </a:endParaRPr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18842A7-D722-4864-B978-468BB28F8676}"/>
              </a:ext>
            </a:extLst>
          </p:cNvPr>
          <p:cNvGrpSpPr/>
          <p:nvPr/>
        </p:nvGrpSpPr>
        <p:grpSpPr>
          <a:xfrm flipV="1">
            <a:off x="3170710" y="3979174"/>
            <a:ext cx="1039294" cy="130457"/>
            <a:chOff x="6565301" y="2765364"/>
            <a:chExt cx="1385725" cy="173942"/>
          </a:xfrm>
        </p:grpSpPr>
        <p:sp>
          <p:nvSpPr>
            <p:cNvPr id="132" name="Isosceles Triangle 131">
              <a:extLst>
                <a:ext uri="{FF2B5EF4-FFF2-40B4-BE49-F238E27FC236}">
                  <a16:creationId xmlns:a16="http://schemas.microsoft.com/office/drawing/2014/main" id="{7DAF8473-D3D2-4022-8C6B-47CF10F148F3}"/>
                </a:ext>
              </a:extLst>
            </p:cNvPr>
            <p:cNvSpPr/>
            <p:nvPr/>
          </p:nvSpPr>
          <p:spPr>
            <a:xfrm rot="10800000">
              <a:off x="7341590" y="2788463"/>
              <a:ext cx="387511" cy="150843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pt-BR" sz="1200" kern="1200">
                <a:solidFill>
                  <a:srgbClr val="FFFFFF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8AF1AB0B-9649-4FEA-B36C-0A5BD5E9DF86}"/>
                </a:ext>
              </a:extLst>
            </p:cNvPr>
            <p:cNvSpPr/>
            <p:nvPr/>
          </p:nvSpPr>
          <p:spPr>
            <a:xfrm>
              <a:off x="6565301" y="2765364"/>
              <a:ext cx="1385725" cy="2346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pt-BR" sz="1200" kern="1200">
                <a:solidFill>
                  <a:srgbClr val="FFFFFF"/>
                </a:solidFill>
                <a:latin typeface="Graphik" panose="020B0503030202060203" pitchFamily="34" charset="0"/>
              </a:endParaRPr>
            </a:p>
          </p:txBody>
        </p:sp>
      </p:grpSp>
      <p:pic>
        <p:nvPicPr>
          <p:cNvPr id="134" name="Picture 4">
            <a:extLst>
              <a:ext uri="{FF2B5EF4-FFF2-40B4-BE49-F238E27FC236}">
                <a16:creationId xmlns:a16="http://schemas.microsoft.com/office/drawing/2014/main" id="{DBBEF17C-0ACC-4B76-84DC-855ED2A46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298" y="3632860"/>
            <a:ext cx="278039" cy="278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0" name="TextBox 139">
            <a:extLst>
              <a:ext uri="{FF2B5EF4-FFF2-40B4-BE49-F238E27FC236}">
                <a16:creationId xmlns:a16="http://schemas.microsoft.com/office/drawing/2014/main" id="{4ED5E4BE-A0F5-4B22-BB6A-81AFFEC0A21D}"/>
              </a:ext>
            </a:extLst>
          </p:cNvPr>
          <p:cNvSpPr txBox="1"/>
          <p:nvPr/>
        </p:nvSpPr>
        <p:spPr>
          <a:xfrm>
            <a:off x="263909" y="4159595"/>
            <a:ext cx="2378624" cy="81560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r" defTabSz="385753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800" b="1" dirty="0">
                <a:solidFill>
                  <a:srgbClr val="2CB3A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2. DESENHO</a:t>
            </a:r>
          </a:p>
          <a:p>
            <a:pPr marL="89297" indent="-89297" defTabSz="685800">
              <a:spcAft>
                <a:spcPts val="15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pt-BR" sz="800" dirty="0">
                <a:solidFill>
                  <a:srgbClr val="66666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Levantamento dos requisitos da iteração</a:t>
            </a:r>
            <a:endParaRPr lang="pt-BR" sz="800" kern="1200" dirty="0">
              <a:solidFill>
                <a:srgbClr val="666666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89297" indent="-89297" defTabSz="685800">
              <a:spcAft>
                <a:spcPts val="15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pt-BR" sz="800" kern="1200" dirty="0">
                <a:solidFill>
                  <a:srgbClr val="666666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Validação dos objetivos e da visão de negócio com o time</a:t>
            </a:r>
          </a:p>
          <a:p>
            <a:pPr marL="89297" indent="-89297"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pt-BR" sz="800" kern="1200" dirty="0">
                <a:solidFill>
                  <a:srgbClr val="666666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Geração de desenho de solução </a:t>
            </a:r>
            <a:r>
              <a:rPr lang="pt-BR" sz="800" dirty="0">
                <a:solidFill>
                  <a:srgbClr val="66666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técnica</a:t>
            </a:r>
          </a:p>
          <a:p>
            <a:pPr marL="89297" indent="-89297"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pt-BR" sz="800" kern="1200" dirty="0">
                <a:solidFill>
                  <a:srgbClr val="666666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Estimativa dos entregáveis com o time</a:t>
            </a: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590CACE5-1B7B-4E53-8126-40896C262732}"/>
              </a:ext>
            </a:extLst>
          </p:cNvPr>
          <p:cNvGrpSpPr/>
          <p:nvPr/>
        </p:nvGrpSpPr>
        <p:grpSpPr>
          <a:xfrm flipV="1">
            <a:off x="1538262" y="3907472"/>
            <a:ext cx="1200223" cy="130457"/>
            <a:chOff x="6565301" y="2765364"/>
            <a:chExt cx="1385725" cy="173942"/>
          </a:xfrm>
        </p:grpSpPr>
        <p:sp>
          <p:nvSpPr>
            <p:cNvPr id="142" name="Isosceles Triangle 141">
              <a:extLst>
                <a:ext uri="{FF2B5EF4-FFF2-40B4-BE49-F238E27FC236}">
                  <a16:creationId xmlns:a16="http://schemas.microsoft.com/office/drawing/2014/main" id="{77E8BF66-29C0-498D-AA7B-D21D49504C79}"/>
                </a:ext>
              </a:extLst>
            </p:cNvPr>
            <p:cNvSpPr/>
            <p:nvPr/>
          </p:nvSpPr>
          <p:spPr>
            <a:xfrm rot="10800000">
              <a:off x="7129905" y="2788463"/>
              <a:ext cx="387511" cy="150843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pt-BR" sz="1200" kern="1200">
                <a:solidFill>
                  <a:srgbClr val="FFFFFF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FA5F9109-1845-4965-B4D5-8037D888104F}"/>
                </a:ext>
              </a:extLst>
            </p:cNvPr>
            <p:cNvSpPr/>
            <p:nvPr/>
          </p:nvSpPr>
          <p:spPr>
            <a:xfrm>
              <a:off x="6565301" y="2765364"/>
              <a:ext cx="1385725" cy="2346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pt-BR" sz="1200" kern="1200">
                <a:solidFill>
                  <a:srgbClr val="FFFFFF"/>
                </a:solidFill>
                <a:latin typeface="Graphik" panose="020B0503030202060203" pitchFamily="34" charset="0"/>
              </a:endParaRPr>
            </a:p>
          </p:txBody>
        </p:sp>
      </p:grpSp>
      <p:pic>
        <p:nvPicPr>
          <p:cNvPr id="144" name="Picture 143">
            <a:extLst>
              <a:ext uri="{FF2B5EF4-FFF2-40B4-BE49-F238E27FC236}">
                <a16:creationId xmlns:a16="http://schemas.microsoft.com/office/drawing/2014/main" id="{97CBC96B-4F4B-4B70-BCF1-C388F89ACA1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7256" y="1990550"/>
            <a:ext cx="457143" cy="457143"/>
          </a:xfrm>
          <a:prstGeom prst="rect">
            <a:avLst/>
          </a:prstGeom>
        </p:spPr>
      </p:pic>
      <p:sp>
        <p:nvSpPr>
          <p:cNvPr id="145" name="TextBox 144">
            <a:extLst>
              <a:ext uri="{FF2B5EF4-FFF2-40B4-BE49-F238E27FC236}">
                <a16:creationId xmlns:a16="http://schemas.microsoft.com/office/drawing/2014/main" id="{8A803E00-731C-43EF-AE42-8A4965750E4B}"/>
              </a:ext>
            </a:extLst>
          </p:cNvPr>
          <p:cNvSpPr txBox="1"/>
          <p:nvPr/>
        </p:nvSpPr>
        <p:spPr>
          <a:xfrm>
            <a:off x="3560802" y="3001520"/>
            <a:ext cx="1067357" cy="13849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385753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900" b="1" dirty="0">
                <a:solidFill>
                  <a:srgbClr val="E6226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Sprints de 15 </a:t>
            </a:r>
            <a:r>
              <a:rPr lang="en-US" sz="900" b="1" dirty="0" err="1">
                <a:solidFill>
                  <a:srgbClr val="E6226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dias</a:t>
            </a:r>
            <a:endParaRPr lang="pt-BR" sz="900" kern="1200" dirty="0">
              <a:solidFill>
                <a:srgbClr val="E62263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250950CD-7D91-4A25-87E8-E5CCB9CC639D}"/>
              </a:ext>
            </a:extLst>
          </p:cNvPr>
          <p:cNvSpPr txBox="1"/>
          <p:nvPr/>
        </p:nvSpPr>
        <p:spPr>
          <a:xfrm>
            <a:off x="3198305" y="4188631"/>
            <a:ext cx="1411223" cy="73866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385753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800" b="1" dirty="0">
                <a:solidFill>
                  <a:srgbClr val="2CB3A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6. REFINAMENTO</a:t>
            </a:r>
          </a:p>
          <a:p>
            <a:pPr marL="89297" indent="-89297" defTabSz="685800">
              <a:spcAft>
                <a:spcPts val="15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pt-BR" sz="800" dirty="0">
                <a:solidFill>
                  <a:srgbClr val="66666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Detalhamento e refinamento dos requisitos para desenvolvimento na sprint seguinte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04A599E-09A1-453E-BD57-915317914CEB}"/>
              </a:ext>
            </a:extLst>
          </p:cNvPr>
          <p:cNvGrpSpPr/>
          <p:nvPr/>
        </p:nvGrpSpPr>
        <p:grpSpPr>
          <a:xfrm flipV="1">
            <a:off x="6170948" y="3119731"/>
            <a:ext cx="1257546" cy="130457"/>
            <a:chOff x="6419799" y="2765364"/>
            <a:chExt cx="1676728" cy="173942"/>
          </a:xfrm>
        </p:grpSpPr>
        <p:sp>
          <p:nvSpPr>
            <p:cNvPr id="87" name="Isosceles Triangle 86">
              <a:extLst>
                <a:ext uri="{FF2B5EF4-FFF2-40B4-BE49-F238E27FC236}">
                  <a16:creationId xmlns:a16="http://schemas.microsoft.com/office/drawing/2014/main" id="{2A53F200-DEA2-4058-B0A2-ABCCDCCA93AD}"/>
                </a:ext>
              </a:extLst>
            </p:cNvPr>
            <p:cNvSpPr/>
            <p:nvPr/>
          </p:nvSpPr>
          <p:spPr>
            <a:xfrm rot="10800000">
              <a:off x="6522440" y="2788463"/>
              <a:ext cx="387511" cy="150843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pt-BR" sz="1200" kern="1200">
                <a:solidFill>
                  <a:srgbClr val="FFFFFF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7A75A51-FC45-4B21-B353-2C71EFD34EFE}"/>
                </a:ext>
              </a:extLst>
            </p:cNvPr>
            <p:cNvSpPr/>
            <p:nvPr/>
          </p:nvSpPr>
          <p:spPr>
            <a:xfrm>
              <a:off x="6419799" y="2765364"/>
              <a:ext cx="1676728" cy="2346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pt-BR" sz="1200" kern="1200">
                <a:solidFill>
                  <a:srgbClr val="FFFFFF"/>
                </a:solidFill>
                <a:latin typeface="Graphik" panose="020B0503030202060203" pitchFamily="34" charset="0"/>
              </a:endParaRPr>
            </a:p>
          </p:txBody>
        </p:sp>
      </p:grpSp>
      <p:pic>
        <p:nvPicPr>
          <p:cNvPr id="5" name="Google Shape;201;p7">
            <a:extLst>
              <a:ext uri="{FF2B5EF4-FFF2-40B4-BE49-F238E27FC236}">
                <a16:creationId xmlns:a16="http://schemas.microsoft.com/office/drawing/2014/main" id="{C5573974-09B6-6BF0-41CD-989DC896486E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51116" t="47853" b="21143"/>
          <a:stretch/>
        </p:blipFill>
        <p:spPr>
          <a:xfrm>
            <a:off x="877" y="2"/>
            <a:ext cx="1092986" cy="1538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02;p7">
            <a:extLst>
              <a:ext uri="{FF2B5EF4-FFF2-40B4-BE49-F238E27FC236}">
                <a16:creationId xmlns:a16="http://schemas.microsoft.com/office/drawing/2014/main" id="{DBAF0B7A-C9CE-9ECA-519A-AA59AB616A75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 l="33371" t="55115" r="19103" b="11535"/>
          <a:stretch/>
        </p:blipFill>
        <p:spPr>
          <a:xfrm>
            <a:off x="1" y="2"/>
            <a:ext cx="897307" cy="13484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6BFEF6-B005-840D-4F0E-F31C772F015D}"/>
              </a:ext>
            </a:extLst>
          </p:cNvPr>
          <p:cNvSpPr txBox="1">
            <a:spLocks/>
          </p:cNvSpPr>
          <p:nvPr/>
        </p:nvSpPr>
        <p:spPr>
          <a:xfrm>
            <a:off x="682579" y="603875"/>
            <a:ext cx="8572500" cy="53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1500" b="0" i="0" u="none" strike="noStrike" cap="none">
                <a:solidFill>
                  <a:srgbClr val="460073"/>
                </a:solidFill>
                <a:latin typeface="Graphik" panose="020B0503030202060203" pitchFamily="34" charset="0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1300">
                <a:solidFill>
                  <a:srgbClr val="7F7F7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Propomos uma abordagem ágil durante um ciclo piloto de 3 meses, com o time da Keeggo participando desde o momento da estratégia e do planejamento até a entrega final.</a:t>
            </a:r>
            <a:endParaRPr lang="pt-BR" sz="1300" dirty="0">
              <a:solidFill>
                <a:srgbClr val="7F7F7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447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50"/>
          <p:cNvPicPr preferRelativeResize="0"/>
          <p:nvPr/>
        </p:nvPicPr>
        <p:blipFill rotWithShape="1">
          <a:blip r:embed="rId3">
            <a:alphaModFix/>
          </a:blip>
          <a:srcRect l="51116" t="24733" b="19256"/>
          <a:stretch/>
        </p:blipFill>
        <p:spPr>
          <a:xfrm>
            <a:off x="875" y="0"/>
            <a:ext cx="1966199" cy="350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0"/>
          <p:cNvPicPr preferRelativeResize="0"/>
          <p:nvPr/>
        </p:nvPicPr>
        <p:blipFill rotWithShape="1">
          <a:blip r:embed="rId4">
            <a:alphaModFix/>
          </a:blip>
          <a:srcRect l="33371" t="30255" r="19103"/>
          <a:stretch/>
        </p:blipFill>
        <p:spPr>
          <a:xfrm>
            <a:off x="0" y="0"/>
            <a:ext cx="1777125" cy="4060698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50"/>
          <p:cNvSpPr txBox="1"/>
          <p:nvPr/>
        </p:nvSpPr>
        <p:spPr>
          <a:xfrm>
            <a:off x="4955874" y="541401"/>
            <a:ext cx="3701015" cy="4060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pt-BR" sz="11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Antes de </a:t>
            </a:r>
            <a:r>
              <a:rPr lang="pt-BR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iniciar o desenvolvimento, é preciso planejar o escopo a ser desenvolvido durante toda PI. O planejamento deverá envolver o levantamos das histórias, entendimentos das tarefas, desenhos arquiteturais, e configurações necessárias.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pt-BR"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pt-BR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Com base no escopo, os fluxos de negócio inerentes a solução e aos usuários que à utilizarão deverão ser reavaliados.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pt-BR"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lnSpc>
                <a:spcPct val="115000"/>
              </a:lnSpc>
              <a:buClr>
                <a:schemeClr val="dk1"/>
              </a:buClr>
              <a:buSzPts val="1200"/>
            </a:pPr>
            <a:r>
              <a:rPr lang="pt-BR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Além disso, nesta etapa ocorrerá a descrição dos requisitos de negócio e refinamento dos protótipos previamente idealizados</a:t>
            </a:r>
            <a:r>
              <a:rPr lang="pt-BR" sz="11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pt-BR" sz="11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pt-BR" sz="11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No final desta etapa teremos uma definição da estimativa de esforço da </a:t>
            </a:r>
            <a:r>
              <a:rPr lang="pt-BR" sz="1100" b="0" i="1" u="none" strike="noStrike" cap="none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squad</a:t>
            </a:r>
            <a:r>
              <a:rPr lang="pt-BR" sz="11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para desenvolvimento da solução no tempo desejado.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pt-BR" sz="11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2" name="Google Shape;372;p50"/>
          <p:cNvSpPr txBox="1"/>
          <p:nvPr/>
        </p:nvSpPr>
        <p:spPr>
          <a:xfrm>
            <a:off x="2012600" y="1317425"/>
            <a:ext cx="27591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900" b="0" i="0" u="none" strike="noStrike" cap="none" dirty="0">
                <a:solidFill>
                  <a:srgbClr val="26262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Planejamento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900" b="0" i="0" u="none" strike="noStrike" cap="none" dirty="0">
                <a:solidFill>
                  <a:srgbClr val="26262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&amp;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900" dirty="0">
                <a:solidFill>
                  <a:srgbClr val="26262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Desenho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900" b="0" i="0" u="none" strike="noStrike" cap="none" dirty="0">
                <a:solidFill>
                  <a:srgbClr val="26262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&amp;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900" dirty="0">
                <a:solidFill>
                  <a:srgbClr val="26262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Preparação</a:t>
            </a:r>
            <a:endParaRPr sz="1900" b="0" i="0" u="none" strike="noStrike" cap="none" dirty="0">
              <a:solidFill>
                <a:srgbClr val="26262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73" name="Google Shape;373;p50"/>
          <p:cNvSpPr txBox="1"/>
          <p:nvPr/>
        </p:nvSpPr>
        <p:spPr>
          <a:xfrm>
            <a:off x="2012588" y="631625"/>
            <a:ext cx="2759100" cy="7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E6226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869163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51"/>
          <p:cNvPicPr preferRelativeResize="0"/>
          <p:nvPr/>
        </p:nvPicPr>
        <p:blipFill rotWithShape="1">
          <a:blip r:embed="rId3">
            <a:alphaModFix/>
          </a:blip>
          <a:srcRect l="51116" t="24733" b="19256"/>
          <a:stretch/>
        </p:blipFill>
        <p:spPr>
          <a:xfrm>
            <a:off x="875" y="0"/>
            <a:ext cx="1966199" cy="350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51"/>
          <p:cNvPicPr preferRelativeResize="0"/>
          <p:nvPr/>
        </p:nvPicPr>
        <p:blipFill rotWithShape="1">
          <a:blip r:embed="rId4">
            <a:alphaModFix/>
          </a:blip>
          <a:srcRect l="33371" t="30255" r="19103"/>
          <a:stretch/>
        </p:blipFill>
        <p:spPr>
          <a:xfrm>
            <a:off x="0" y="0"/>
            <a:ext cx="1777125" cy="4060698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51"/>
          <p:cNvSpPr txBox="1"/>
          <p:nvPr/>
        </p:nvSpPr>
        <p:spPr>
          <a:xfrm>
            <a:off x="5007150" y="707825"/>
            <a:ext cx="3576000" cy="4060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pt-BR" sz="11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Esta etapa contempla todo o desenvolvimento da solução até </a:t>
            </a:r>
            <a:r>
              <a:rPr lang="pt-BR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a entrega </a:t>
            </a:r>
            <a:r>
              <a:rPr lang="pt-BR" sz="11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da sua primeira versão.</a:t>
            </a:r>
            <a:endParaRPr lang="pt-BR" sz="11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pt-BR"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pt-BR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O desenvolvimento irá seguir um modelo iterativo de entregas contínuas envolvendo </a:t>
            </a:r>
            <a:r>
              <a:rPr lang="pt-BR" sz="1100" i="1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squads</a:t>
            </a:r>
            <a:r>
              <a:rPr lang="pt-BR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multidisciplinares que irão trabalhar na implementação das jornadas pré-definidas nas etapas 1 e 2.</a:t>
            </a:r>
            <a:endParaRPr lang="pt-BR" sz="11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pt-BR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Neste momento, se dará o início da criação dos recursos necessários para o funcionamento e desenvolvimento da solução, como por exemplo: banco de dados, integrações, apis, barramentos e afins.</a:t>
            </a:r>
            <a:endParaRPr lang="pt-BR"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pt-BR" sz="11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pt-BR" sz="11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Neste momento, teremos a execução de testes funcionais. </a:t>
            </a:r>
            <a:r>
              <a:rPr lang="pt-BR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pt-BR" sz="11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execução de testes de integração durante as sprints que necessitarem. Além disso, participação no refinamento constante do backlog para as próximas sprints.</a:t>
            </a:r>
            <a:endParaRPr lang="pt-BR" sz="11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1" name="Google Shape;381;p51"/>
          <p:cNvSpPr txBox="1"/>
          <p:nvPr/>
        </p:nvSpPr>
        <p:spPr>
          <a:xfrm>
            <a:off x="2012600" y="1317425"/>
            <a:ext cx="27591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900" b="0" i="0" u="none" strike="noStrike" cap="none" dirty="0">
                <a:solidFill>
                  <a:srgbClr val="26262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Desenvolvimento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900" dirty="0">
                <a:solidFill>
                  <a:srgbClr val="26262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&amp;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900" b="0" i="0" u="none" strike="noStrike" cap="none" dirty="0">
                <a:solidFill>
                  <a:srgbClr val="26262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Testes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900" dirty="0">
                <a:solidFill>
                  <a:srgbClr val="26262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&amp;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900" b="0" i="0" u="none" strike="noStrike" cap="none" dirty="0">
                <a:solidFill>
                  <a:srgbClr val="26262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Refinamento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pt-BR" sz="1900" dirty="0">
              <a:solidFill>
                <a:srgbClr val="26262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pt-BR" sz="1900" b="0" i="0" u="none" strike="noStrike" cap="none" dirty="0">
              <a:solidFill>
                <a:srgbClr val="26262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3220923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52"/>
          <p:cNvPicPr preferRelativeResize="0"/>
          <p:nvPr/>
        </p:nvPicPr>
        <p:blipFill rotWithShape="1">
          <a:blip r:embed="rId3">
            <a:alphaModFix/>
          </a:blip>
          <a:srcRect l="51116" t="24733" b="19256"/>
          <a:stretch/>
        </p:blipFill>
        <p:spPr>
          <a:xfrm>
            <a:off x="875" y="0"/>
            <a:ext cx="1966199" cy="350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52"/>
          <p:cNvPicPr preferRelativeResize="0"/>
          <p:nvPr/>
        </p:nvPicPr>
        <p:blipFill rotWithShape="1">
          <a:blip r:embed="rId4">
            <a:alphaModFix/>
          </a:blip>
          <a:srcRect l="33371" t="30255" r="19103"/>
          <a:stretch/>
        </p:blipFill>
        <p:spPr>
          <a:xfrm>
            <a:off x="0" y="0"/>
            <a:ext cx="1777125" cy="4060698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52"/>
          <p:cNvSpPr txBox="1"/>
          <p:nvPr/>
        </p:nvSpPr>
        <p:spPr>
          <a:xfrm>
            <a:off x="5007150" y="707825"/>
            <a:ext cx="3576000" cy="38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pt-BR" sz="11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Para continuar a evoluir é necessário acompanhamento e trabalho contínuo.</a:t>
            </a:r>
            <a:endParaRPr lang="pt-BR" sz="11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pt-BR"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pt-BR" sz="11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Durante esta etapa,</a:t>
            </a:r>
            <a:r>
              <a:rPr lang="pt-BR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a apresentação dos resultados implementados deverá ser realizada com as áreas interessadas.</a:t>
            </a:r>
            <a:endParaRPr lang="pt-BR" sz="11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pt-BR"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1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Por fim, deverá ser realizado um relatório final reunindo todas os indicadores e aprendizados durante a implementação do piloto.</a:t>
            </a:r>
            <a:endParaRPr sz="11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0" name="Google Shape;390;p52"/>
          <p:cNvSpPr txBox="1"/>
          <p:nvPr/>
        </p:nvSpPr>
        <p:spPr>
          <a:xfrm>
            <a:off x="2012600" y="1317425"/>
            <a:ext cx="27591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900" b="0" i="0" u="none" strike="noStrike" cap="none" dirty="0">
                <a:solidFill>
                  <a:srgbClr val="26262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Validação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900" dirty="0">
                <a:solidFill>
                  <a:srgbClr val="26262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&amp;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900" b="0" i="0" u="none" strike="noStrike" cap="none" dirty="0">
                <a:solidFill>
                  <a:srgbClr val="26262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Entrega</a:t>
            </a:r>
            <a:endParaRPr sz="1900" b="0" i="0" u="none" strike="noStrike" cap="none" dirty="0">
              <a:solidFill>
                <a:srgbClr val="26262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5507536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3"/>
          <p:cNvSpPr/>
          <p:nvPr/>
        </p:nvSpPr>
        <p:spPr>
          <a:xfrm>
            <a:off x="75" y="0"/>
            <a:ext cx="9144000" cy="5279700"/>
          </a:xfrm>
          <a:prstGeom prst="rect">
            <a:avLst/>
          </a:prstGeom>
          <a:solidFill>
            <a:srgbClr val="E622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3"/>
          <p:cNvSpPr txBox="1"/>
          <p:nvPr/>
        </p:nvSpPr>
        <p:spPr>
          <a:xfrm>
            <a:off x="2402100" y="2357475"/>
            <a:ext cx="5147700" cy="7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Estrutura da Equipe</a:t>
            </a:r>
            <a:endParaRPr sz="3000" b="0" i="0" u="none" strike="noStrike" cap="non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03" name="Google Shape;303;p43"/>
          <p:cNvSpPr txBox="1"/>
          <p:nvPr/>
        </p:nvSpPr>
        <p:spPr>
          <a:xfrm>
            <a:off x="1128900" y="2001192"/>
            <a:ext cx="1414500" cy="7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6000" b="0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05.</a:t>
            </a:r>
            <a:endParaRPr sz="6000" b="0" i="0" u="none" strike="noStrike" cap="none" dirty="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4181908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Retângulo: Cantos Arredondados 1792">
            <a:extLst>
              <a:ext uri="{FF2B5EF4-FFF2-40B4-BE49-F238E27FC236}">
                <a16:creationId xmlns:a16="http://schemas.microsoft.com/office/drawing/2014/main" id="{FBA74FAE-9B8B-9184-A471-BF4BC1144B96}"/>
              </a:ext>
            </a:extLst>
          </p:cNvPr>
          <p:cNvSpPr/>
          <p:nvPr/>
        </p:nvSpPr>
        <p:spPr>
          <a:xfrm>
            <a:off x="520240" y="2740950"/>
            <a:ext cx="3029557" cy="1839284"/>
          </a:xfrm>
          <a:prstGeom prst="roundRect">
            <a:avLst/>
          </a:prstGeom>
          <a:solidFill>
            <a:srgbClr val="2CB3AF"/>
          </a:solidFill>
          <a:ln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Google Shape;762;gb538ab4eb2_0_87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3541"/>
            <a:ext cx="9144000" cy="5143500"/>
          </a:xfrm>
          <a:prstGeom prst="rect">
            <a:avLst/>
          </a:prstGeom>
          <a:solidFill>
            <a:srgbClr val="2CB3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/>
          </a:p>
        </p:txBody>
      </p:sp>
      <p:sp>
        <p:nvSpPr>
          <p:cNvPr id="1794" name="Retângulo: Cantos Arredondados 1793">
            <a:extLst>
              <a:ext uri="{FF2B5EF4-FFF2-40B4-BE49-F238E27FC236}">
                <a16:creationId xmlns:a16="http://schemas.microsoft.com/office/drawing/2014/main" id="{1F57430C-B076-3B55-F4CE-C49ED196F34C}"/>
              </a:ext>
            </a:extLst>
          </p:cNvPr>
          <p:cNvSpPr/>
          <p:nvPr/>
        </p:nvSpPr>
        <p:spPr>
          <a:xfrm>
            <a:off x="758350" y="958887"/>
            <a:ext cx="4799394" cy="1188501"/>
          </a:xfrm>
          <a:prstGeom prst="roundRect">
            <a:avLst/>
          </a:prstGeom>
          <a:solidFill>
            <a:srgbClr val="2CB3AF"/>
          </a:solidFill>
          <a:ln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85" name="Google Shape;1885;p152"/>
          <p:cNvSpPr txBox="1"/>
          <p:nvPr/>
        </p:nvSpPr>
        <p:spPr>
          <a:xfrm>
            <a:off x="268197" y="70775"/>
            <a:ext cx="83274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Atual estrutura da equipe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6D9DE77-3F0E-B27F-EE80-5AC8746054C6}"/>
              </a:ext>
            </a:extLst>
          </p:cNvPr>
          <p:cNvSpPr/>
          <p:nvPr/>
        </p:nvSpPr>
        <p:spPr>
          <a:xfrm>
            <a:off x="3820569" y="2692797"/>
            <a:ext cx="3547272" cy="2159123"/>
          </a:xfrm>
          <a:prstGeom prst="roundRect">
            <a:avLst/>
          </a:prstGeom>
          <a:solidFill>
            <a:srgbClr val="2CB3AF"/>
          </a:solidFill>
          <a:ln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7BD1A91-D20D-F318-5790-ACE1B962A036}"/>
              </a:ext>
            </a:extLst>
          </p:cNvPr>
          <p:cNvSpPr txBox="1"/>
          <p:nvPr/>
        </p:nvSpPr>
        <p:spPr>
          <a:xfrm>
            <a:off x="4407306" y="2307382"/>
            <a:ext cx="25549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Squad</a:t>
            </a:r>
            <a:r>
              <a:rPr lang="pt-BR" sz="1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Captar</a:t>
            </a:r>
          </a:p>
        </p:txBody>
      </p:sp>
      <p:pic>
        <p:nvPicPr>
          <p:cNvPr id="9" name="Google Shape;1150;p50">
            <a:extLst>
              <a:ext uri="{FF2B5EF4-FFF2-40B4-BE49-F238E27FC236}">
                <a16:creationId xmlns:a16="http://schemas.microsoft.com/office/drawing/2014/main" id="{059D4773-3893-9CB1-C790-C55ED08FEF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07053" y="3896140"/>
            <a:ext cx="461665" cy="47284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C1618EF4-C3B7-E220-0E6D-DEEF5D0F711E}"/>
              </a:ext>
            </a:extLst>
          </p:cNvPr>
          <p:cNvSpPr txBox="1"/>
          <p:nvPr/>
        </p:nvSpPr>
        <p:spPr>
          <a:xfrm>
            <a:off x="4884339" y="4321822"/>
            <a:ext cx="130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Desenvolvedores Dynamics365</a:t>
            </a:r>
            <a:endParaRPr lang="pt-BR" sz="10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EC5271B-8EB4-91C5-43C9-FBE7D2D4646C}"/>
              </a:ext>
            </a:extLst>
          </p:cNvPr>
          <p:cNvSpPr txBox="1"/>
          <p:nvPr/>
        </p:nvSpPr>
        <p:spPr>
          <a:xfrm>
            <a:off x="2695114" y="636009"/>
            <a:ext cx="25549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Time Kroton</a:t>
            </a:r>
            <a:endParaRPr lang="pt-BR" sz="12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696395E-4DB1-5705-CF36-23D91F60396A}"/>
              </a:ext>
            </a:extLst>
          </p:cNvPr>
          <p:cNvSpPr txBox="1"/>
          <p:nvPr/>
        </p:nvSpPr>
        <p:spPr>
          <a:xfrm>
            <a:off x="3594260" y="4335460"/>
            <a:ext cx="158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Desenvolvedor </a:t>
            </a:r>
          </a:p>
          <a:p>
            <a:pPr algn="ctr"/>
            <a:r>
              <a:rPr lang="pt-BR" sz="900" b="1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.Net</a:t>
            </a:r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pt-BR" sz="10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4" name="Imagem 13" descr="Ícone&#10;&#10;Descrição gerada automaticamente">
            <a:extLst>
              <a:ext uri="{FF2B5EF4-FFF2-40B4-BE49-F238E27FC236}">
                <a16:creationId xmlns:a16="http://schemas.microsoft.com/office/drawing/2014/main" id="{1BD9EBC9-F705-ED86-A92F-34FCCFFB2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474" y="3873795"/>
            <a:ext cx="461665" cy="461665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EC6727F2-BCBC-613A-DADD-96AC267855DC}"/>
              </a:ext>
            </a:extLst>
          </p:cNvPr>
          <p:cNvSpPr txBox="1"/>
          <p:nvPr/>
        </p:nvSpPr>
        <p:spPr>
          <a:xfrm>
            <a:off x="5780120" y="4343480"/>
            <a:ext cx="158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Analista </a:t>
            </a:r>
          </a:p>
          <a:p>
            <a:pPr algn="ctr"/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Funcional</a:t>
            </a:r>
            <a:endParaRPr lang="pt-BR" sz="10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7" name="Imagem 16" descr="Ícone&#10;&#10;Descrição gerada automaticamente">
            <a:extLst>
              <a:ext uri="{FF2B5EF4-FFF2-40B4-BE49-F238E27FC236}">
                <a16:creationId xmlns:a16="http://schemas.microsoft.com/office/drawing/2014/main" id="{E9EC9815-F6F6-FD00-9359-D06E396C55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147" y="3873795"/>
            <a:ext cx="461666" cy="461666"/>
          </a:xfrm>
          <a:prstGeom prst="rect">
            <a:avLst/>
          </a:prstGeom>
        </p:spPr>
      </p:pic>
      <p:pic>
        <p:nvPicPr>
          <p:cNvPr id="18" name="Imagem 17" descr="Ícone&#10;&#10;Descrição gerada automaticamente">
            <a:extLst>
              <a:ext uri="{FF2B5EF4-FFF2-40B4-BE49-F238E27FC236}">
                <a16:creationId xmlns:a16="http://schemas.microsoft.com/office/drawing/2014/main" id="{84FDA48A-D5AF-AD4B-1800-481DA87D6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998" y="2848072"/>
            <a:ext cx="461665" cy="461665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F410948E-C130-83C0-BCCD-E42609BFB132}"/>
              </a:ext>
            </a:extLst>
          </p:cNvPr>
          <p:cNvSpPr txBox="1"/>
          <p:nvPr/>
        </p:nvSpPr>
        <p:spPr>
          <a:xfrm>
            <a:off x="5557744" y="3309737"/>
            <a:ext cx="158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Analista de </a:t>
            </a:r>
          </a:p>
          <a:p>
            <a:pPr algn="ctr"/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Qualidade</a:t>
            </a:r>
            <a:endParaRPr lang="pt-BR" sz="10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7845EF1-5017-2D36-0E2F-356E8B0B668D}"/>
              </a:ext>
            </a:extLst>
          </p:cNvPr>
          <p:cNvSpPr txBox="1"/>
          <p:nvPr/>
        </p:nvSpPr>
        <p:spPr>
          <a:xfrm>
            <a:off x="4355678" y="3321308"/>
            <a:ext cx="130111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Scrum Master</a:t>
            </a:r>
            <a:endParaRPr lang="pt-BR" sz="1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C0C44CCB-18F3-3957-BDC9-5329510E6C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3625" y="2867815"/>
            <a:ext cx="461665" cy="461665"/>
          </a:xfrm>
          <a:prstGeom prst="rect">
            <a:avLst/>
          </a:prstGeom>
        </p:spPr>
      </p:pic>
      <p:pic>
        <p:nvPicPr>
          <p:cNvPr id="33" name="Imagem 32" descr="Ícone&#10;&#10;Descrição gerada automaticamente">
            <a:extLst>
              <a:ext uri="{FF2B5EF4-FFF2-40B4-BE49-F238E27FC236}">
                <a16:creationId xmlns:a16="http://schemas.microsoft.com/office/drawing/2014/main" id="{1D486B14-D8D1-19DB-EDB3-E4E7AAE73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7614" y="1148533"/>
            <a:ext cx="461665" cy="461665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BBB6F7F7-03CC-3093-84CA-5F1473099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275" y="1140402"/>
            <a:ext cx="461665" cy="461665"/>
          </a:xfrm>
          <a:prstGeom prst="rect">
            <a:avLst/>
          </a:prstGeom>
        </p:spPr>
      </p:pic>
      <p:pic>
        <p:nvPicPr>
          <p:cNvPr id="36" name="Imagem 35" descr="Ícone&#10;&#10;Descrição gerada automaticamente">
            <a:extLst>
              <a:ext uri="{FF2B5EF4-FFF2-40B4-BE49-F238E27FC236}">
                <a16:creationId xmlns:a16="http://schemas.microsoft.com/office/drawing/2014/main" id="{422A6C1A-23D0-8761-2918-61B259CB7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893" y="1166461"/>
            <a:ext cx="461665" cy="461665"/>
          </a:xfrm>
          <a:prstGeom prst="rect">
            <a:avLst/>
          </a:prstGeom>
        </p:spPr>
      </p:pic>
      <p:sp>
        <p:nvSpPr>
          <p:cNvPr id="46" name="CaixaDeTexto 45">
            <a:extLst>
              <a:ext uri="{FF2B5EF4-FFF2-40B4-BE49-F238E27FC236}">
                <a16:creationId xmlns:a16="http://schemas.microsoft.com/office/drawing/2014/main" id="{2E9D8F26-6B0B-B20E-1359-19398AB24FAD}"/>
              </a:ext>
            </a:extLst>
          </p:cNvPr>
          <p:cNvSpPr txBox="1"/>
          <p:nvPr/>
        </p:nvSpPr>
        <p:spPr>
          <a:xfrm>
            <a:off x="1270829" y="1602067"/>
            <a:ext cx="1301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Coordenador de Arquitetura –</a:t>
            </a:r>
            <a:b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Kroton</a:t>
            </a:r>
            <a:endParaRPr lang="pt-BR" sz="1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1123B2C5-C23A-3EEC-E017-CC4FAEE0A9EE}"/>
              </a:ext>
            </a:extLst>
          </p:cNvPr>
          <p:cNvSpPr txBox="1"/>
          <p:nvPr/>
        </p:nvSpPr>
        <p:spPr>
          <a:xfrm>
            <a:off x="2647891" y="1618894"/>
            <a:ext cx="130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Tech </a:t>
            </a:r>
            <a:r>
              <a:rPr lang="pt-BR" sz="9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Leader</a:t>
            </a:r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–</a:t>
            </a:r>
            <a:b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Kroton</a:t>
            </a:r>
            <a:endParaRPr lang="pt-BR" sz="1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E5BB294-A927-F676-BFA7-0B1866052397}"/>
              </a:ext>
            </a:extLst>
          </p:cNvPr>
          <p:cNvSpPr txBox="1"/>
          <p:nvPr/>
        </p:nvSpPr>
        <p:spPr>
          <a:xfrm>
            <a:off x="3949001" y="1636919"/>
            <a:ext cx="130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Product</a:t>
            </a:r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9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Owner</a:t>
            </a:r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–</a:t>
            </a:r>
            <a:b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Kroton</a:t>
            </a:r>
            <a:endParaRPr lang="pt-BR" sz="1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24" name="Conector: Angulado 23">
            <a:extLst>
              <a:ext uri="{FF2B5EF4-FFF2-40B4-BE49-F238E27FC236}">
                <a16:creationId xmlns:a16="http://schemas.microsoft.com/office/drawing/2014/main" id="{BC77DC8D-B921-897F-3149-A3B8A39DB817}"/>
              </a:ext>
            </a:extLst>
          </p:cNvPr>
          <p:cNvCxnSpPr>
            <a:cxnSpLocks/>
            <a:stCxn id="1794" idx="2"/>
            <a:endCxn id="4" idx="1"/>
          </p:cNvCxnSpPr>
          <p:nvPr/>
        </p:nvCxnSpPr>
        <p:spPr>
          <a:xfrm rot="16200000" flipH="1">
            <a:off x="2676823" y="2628612"/>
            <a:ext cx="1624971" cy="662522"/>
          </a:xfrm>
          <a:prstGeom prst="bentConnector2">
            <a:avLst/>
          </a:prstGeom>
          <a:ln>
            <a:solidFill>
              <a:srgbClr val="E62263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4155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Retângulo: Cantos Arredondados 1792">
            <a:extLst>
              <a:ext uri="{FF2B5EF4-FFF2-40B4-BE49-F238E27FC236}">
                <a16:creationId xmlns:a16="http://schemas.microsoft.com/office/drawing/2014/main" id="{FBA74FAE-9B8B-9184-A471-BF4BC1144B96}"/>
              </a:ext>
            </a:extLst>
          </p:cNvPr>
          <p:cNvSpPr/>
          <p:nvPr/>
        </p:nvSpPr>
        <p:spPr>
          <a:xfrm>
            <a:off x="520240" y="2740950"/>
            <a:ext cx="3029557" cy="1839284"/>
          </a:xfrm>
          <a:prstGeom prst="roundRect">
            <a:avLst/>
          </a:prstGeom>
          <a:solidFill>
            <a:srgbClr val="2CB3AF"/>
          </a:solidFill>
          <a:ln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Google Shape;762;gb538ab4eb2_0_879"/>
          <p:cNvSpPr/>
          <p:nvPr/>
        </p:nvSpPr>
        <p:spPr>
          <a:xfrm>
            <a:off x="75" y="0"/>
            <a:ext cx="9144000" cy="5143500"/>
          </a:xfrm>
          <a:prstGeom prst="rect">
            <a:avLst/>
          </a:prstGeom>
          <a:solidFill>
            <a:srgbClr val="2CB3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/>
          </a:p>
        </p:txBody>
      </p:sp>
      <p:sp>
        <p:nvSpPr>
          <p:cNvPr id="1794" name="Retângulo: Cantos Arredondados 1793">
            <a:extLst>
              <a:ext uri="{FF2B5EF4-FFF2-40B4-BE49-F238E27FC236}">
                <a16:creationId xmlns:a16="http://schemas.microsoft.com/office/drawing/2014/main" id="{1F57430C-B076-3B55-F4CE-C49ED196F34C}"/>
              </a:ext>
            </a:extLst>
          </p:cNvPr>
          <p:cNvSpPr/>
          <p:nvPr/>
        </p:nvSpPr>
        <p:spPr>
          <a:xfrm>
            <a:off x="398004" y="3574474"/>
            <a:ext cx="4799394" cy="1188501"/>
          </a:xfrm>
          <a:prstGeom prst="roundRect">
            <a:avLst/>
          </a:prstGeom>
          <a:solidFill>
            <a:srgbClr val="2CB3AF"/>
          </a:solidFill>
          <a:ln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B560C59-8B84-49C8-19D8-480CA1A8653C}"/>
              </a:ext>
            </a:extLst>
          </p:cNvPr>
          <p:cNvSpPr/>
          <p:nvPr/>
        </p:nvSpPr>
        <p:spPr>
          <a:xfrm>
            <a:off x="420780" y="1543345"/>
            <a:ext cx="3029557" cy="1839284"/>
          </a:xfrm>
          <a:prstGeom prst="roundRect">
            <a:avLst/>
          </a:prstGeom>
          <a:solidFill>
            <a:srgbClr val="2CB3AF"/>
          </a:solidFill>
          <a:ln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6D9DE77-3F0E-B27F-EE80-5AC8746054C6}"/>
              </a:ext>
            </a:extLst>
          </p:cNvPr>
          <p:cNvSpPr/>
          <p:nvPr/>
        </p:nvSpPr>
        <p:spPr>
          <a:xfrm>
            <a:off x="5132949" y="1390614"/>
            <a:ext cx="3848396" cy="2164418"/>
          </a:xfrm>
          <a:prstGeom prst="roundRect">
            <a:avLst/>
          </a:prstGeom>
          <a:solidFill>
            <a:srgbClr val="2CB3AF"/>
          </a:solidFill>
          <a:ln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7BD1A91-D20D-F318-5790-ACE1B962A036}"/>
              </a:ext>
            </a:extLst>
          </p:cNvPr>
          <p:cNvSpPr txBox="1"/>
          <p:nvPr/>
        </p:nvSpPr>
        <p:spPr>
          <a:xfrm>
            <a:off x="5693665" y="1029591"/>
            <a:ext cx="25549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Squad</a:t>
            </a:r>
            <a:r>
              <a:rPr lang="pt-BR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Captar</a:t>
            </a:r>
          </a:p>
        </p:txBody>
      </p:sp>
      <p:pic>
        <p:nvPicPr>
          <p:cNvPr id="9" name="Google Shape;1150;p50">
            <a:extLst>
              <a:ext uri="{FF2B5EF4-FFF2-40B4-BE49-F238E27FC236}">
                <a16:creationId xmlns:a16="http://schemas.microsoft.com/office/drawing/2014/main" id="{059D4773-3893-9CB1-C790-C55ED08FEF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9432" y="2579982"/>
            <a:ext cx="461665" cy="47284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C1618EF4-C3B7-E220-0E6D-DEEF5D0F711E}"/>
              </a:ext>
            </a:extLst>
          </p:cNvPr>
          <p:cNvSpPr txBox="1"/>
          <p:nvPr/>
        </p:nvSpPr>
        <p:spPr>
          <a:xfrm>
            <a:off x="6579709" y="2983635"/>
            <a:ext cx="130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Desenvolvedores Dynamics365</a:t>
            </a:r>
            <a:endParaRPr lang="pt-BR" sz="10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EC5271B-8EB4-91C5-43C9-FBE7D2D4646C}"/>
              </a:ext>
            </a:extLst>
          </p:cNvPr>
          <p:cNvSpPr txBox="1"/>
          <p:nvPr/>
        </p:nvSpPr>
        <p:spPr>
          <a:xfrm>
            <a:off x="658059" y="1020125"/>
            <a:ext cx="255499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Gestão </a:t>
            </a:r>
          </a:p>
          <a:p>
            <a:pPr algn="ctr"/>
            <a:r>
              <a:rPr lang="pt-BR" sz="1200" b="1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Squad</a:t>
            </a:r>
            <a:r>
              <a:rPr lang="pt-BR"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Captar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696395E-4DB1-5705-CF36-23D91F60396A}"/>
              </a:ext>
            </a:extLst>
          </p:cNvPr>
          <p:cNvSpPr txBox="1"/>
          <p:nvPr/>
        </p:nvSpPr>
        <p:spPr>
          <a:xfrm>
            <a:off x="5370344" y="3052826"/>
            <a:ext cx="158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Desenvolvedor </a:t>
            </a:r>
          </a:p>
          <a:p>
            <a:pPr algn="ctr"/>
            <a:r>
              <a:rPr lang="pt-BR" sz="900" b="1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.Net</a:t>
            </a:r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pt-BR" sz="10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4" name="Imagem 13" descr="Ícone&#10;&#10;Descrição gerada automaticamente">
            <a:extLst>
              <a:ext uri="{FF2B5EF4-FFF2-40B4-BE49-F238E27FC236}">
                <a16:creationId xmlns:a16="http://schemas.microsoft.com/office/drawing/2014/main" id="{1BD9EBC9-F705-ED86-A92F-34FCCFFB2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558" y="2591161"/>
            <a:ext cx="461665" cy="461665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EC6727F2-BCBC-613A-DADD-96AC267855DC}"/>
              </a:ext>
            </a:extLst>
          </p:cNvPr>
          <p:cNvSpPr txBox="1"/>
          <p:nvPr/>
        </p:nvSpPr>
        <p:spPr>
          <a:xfrm>
            <a:off x="7556204" y="3060846"/>
            <a:ext cx="158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Analista </a:t>
            </a:r>
          </a:p>
          <a:p>
            <a:pPr algn="ctr"/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Funcional</a:t>
            </a:r>
            <a:endParaRPr lang="pt-BR" sz="10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7" name="Imagem 16" descr="Ícone&#10;&#10;Descrição gerada automaticamente">
            <a:extLst>
              <a:ext uri="{FF2B5EF4-FFF2-40B4-BE49-F238E27FC236}">
                <a16:creationId xmlns:a16="http://schemas.microsoft.com/office/drawing/2014/main" id="{E9EC9815-F6F6-FD00-9359-D06E396C55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231" y="2591161"/>
            <a:ext cx="461666" cy="461666"/>
          </a:xfrm>
          <a:prstGeom prst="rect">
            <a:avLst/>
          </a:prstGeom>
        </p:spPr>
      </p:pic>
      <p:pic>
        <p:nvPicPr>
          <p:cNvPr id="18" name="Imagem 17" descr="Ícone&#10;&#10;Descrição gerada automaticamente">
            <a:extLst>
              <a:ext uri="{FF2B5EF4-FFF2-40B4-BE49-F238E27FC236}">
                <a16:creationId xmlns:a16="http://schemas.microsoft.com/office/drawing/2014/main" id="{84FDA48A-D5AF-AD4B-1800-481DA87D6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712" y="1605913"/>
            <a:ext cx="461665" cy="461665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F410948E-C130-83C0-BCCD-E42609BFB132}"/>
              </a:ext>
            </a:extLst>
          </p:cNvPr>
          <p:cNvSpPr txBox="1"/>
          <p:nvPr/>
        </p:nvSpPr>
        <p:spPr>
          <a:xfrm>
            <a:off x="5892458" y="2067578"/>
            <a:ext cx="158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Analista de </a:t>
            </a:r>
          </a:p>
          <a:p>
            <a:pPr algn="ctr"/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Qualidade</a:t>
            </a:r>
            <a:endParaRPr lang="pt-BR" sz="10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09F6AA6-8F11-8E69-FF2B-A64947ED21EE}"/>
              </a:ext>
            </a:extLst>
          </p:cNvPr>
          <p:cNvSpPr txBox="1"/>
          <p:nvPr/>
        </p:nvSpPr>
        <p:spPr>
          <a:xfrm>
            <a:off x="2023456" y="2193099"/>
            <a:ext cx="130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Product</a:t>
            </a:r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pPr algn="ctr"/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Manager</a:t>
            </a:r>
            <a:endParaRPr lang="pt-BR" sz="10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Imagem 28" descr="Ícone&#10;&#10;Descrição gerada automaticamente">
            <a:extLst>
              <a:ext uri="{FF2B5EF4-FFF2-40B4-BE49-F238E27FC236}">
                <a16:creationId xmlns:a16="http://schemas.microsoft.com/office/drawing/2014/main" id="{784DF040-3C8F-F411-E176-04E9E1168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1403" y="1739606"/>
            <a:ext cx="461665" cy="461665"/>
          </a:xfrm>
          <a:prstGeom prst="rect">
            <a:avLst/>
          </a:prstGeom>
        </p:spPr>
      </p:pic>
      <p:pic>
        <p:nvPicPr>
          <p:cNvPr id="33" name="Imagem 32" descr="Ícone&#10;&#10;Descrição gerada automaticamente">
            <a:extLst>
              <a:ext uri="{FF2B5EF4-FFF2-40B4-BE49-F238E27FC236}">
                <a16:creationId xmlns:a16="http://schemas.microsoft.com/office/drawing/2014/main" id="{1D486B14-D8D1-19DB-EDB3-E4E7AAE73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7268" y="3764120"/>
            <a:ext cx="461665" cy="461665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BBB6F7F7-03CC-3093-84CA-5F1473099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929" y="3755989"/>
            <a:ext cx="461665" cy="461665"/>
          </a:xfrm>
          <a:prstGeom prst="rect">
            <a:avLst/>
          </a:prstGeom>
        </p:spPr>
      </p:pic>
      <p:pic>
        <p:nvPicPr>
          <p:cNvPr id="36" name="Imagem 35" descr="Ícone&#10;&#10;Descrição gerada automaticamente">
            <a:extLst>
              <a:ext uri="{FF2B5EF4-FFF2-40B4-BE49-F238E27FC236}">
                <a16:creationId xmlns:a16="http://schemas.microsoft.com/office/drawing/2014/main" id="{422A6C1A-23D0-8761-2918-61B259CB7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547" y="3782048"/>
            <a:ext cx="461665" cy="461665"/>
          </a:xfrm>
          <a:prstGeom prst="rect">
            <a:avLst/>
          </a:prstGeom>
        </p:spPr>
      </p:pic>
      <p:sp>
        <p:nvSpPr>
          <p:cNvPr id="46" name="CaixaDeTexto 45">
            <a:extLst>
              <a:ext uri="{FF2B5EF4-FFF2-40B4-BE49-F238E27FC236}">
                <a16:creationId xmlns:a16="http://schemas.microsoft.com/office/drawing/2014/main" id="{2E9D8F26-6B0B-B20E-1359-19398AB24FAD}"/>
              </a:ext>
            </a:extLst>
          </p:cNvPr>
          <p:cNvSpPr txBox="1"/>
          <p:nvPr/>
        </p:nvSpPr>
        <p:spPr>
          <a:xfrm>
            <a:off x="910483" y="4217654"/>
            <a:ext cx="1301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Coordenador de Arquitetura –</a:t>
            </a:r>
            <a:b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Kroton</a:t>
            </a:r>
            <a:endParaRPr lang="pt-BR" sz="1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1123B2C5-C23A-3EEC-E017-CC4FAEE0A9EE}"/>
              </a:ext>
            </a:extLst>
          </p:cNvPr>
          <p:cNvSpPr txBox="1"/>
          <p:nvPr/>
        </p:nvSpPr>
        <p:spPr>
          <a:xfrm>
            <a:off x="2287545" y="4234481"/>
            <a:ext cx="130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Tech </a:t>
            </a:r>
            <a:r>
              <a:rPr lang="pt-BR" sz="9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Leader</a:t>
            </a:r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–</a:t>
            </a:r>
            <a:b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Kroton</a:t>
            </a:r>
            <a:endParaRPr lang="pt-BR" sz="1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E5BB294-A927-F676-BFA7-0B1866052397}"/>
              </a:ext>
            </a:extLst>
          </p:cNvPr>
          <p:cNvSpPr txBox="1"/>
          <p:nvPr/>
        </p:nvSpPr>
        <p:spPr>
          <a:xfrm>
            <a:off x="3588655" y="4252506"/>
            <a:ext cx="130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Product</a:t>
            </a:r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9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Owner</a:t>
            </a:r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–</a:t>
            </a:r>
            <a:b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Kroton</a:t>
            </a:r>
            <a:endParaRPr lang="pt-BR" sz="1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06" name="CaixaDeTexto 1805">
            <a:extLst>
              <a:ext uri="{FF2B5EF4-FFF2-40B4-BE49-F238E27FC236}">
                <a16:creationId xmlns:a16="http://schemas.microsoft.com/office/drawing/2014/main" id="{F860E800-EE2C-AD2C-0087-BD43CF59CB74}"/>
              </a:ext>
            </a:extLst>
          </p:cNvPr>
          <p:cNvSpPr txBox="1"/>
          <p:nvPr/>
        </p:nvSpPr>
        <p:spPr>
          <a:xfrm>
            <a:off x="4937933" y="2075598"/>
            <a:ext cx="158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UI</a:t>
            </a:r>
          </a:p>
          <a:p>
            <a:pPr algn="ctr"/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Designer</a:t>
            </a:r>
            <a:endParaRPr lang="pt-BR" sz="10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807" name="Imagem 1806" descr="Ícone&#10;&#10;Descrição gerada automaticamente">
            <a:extLst>
              <a:ext uri="{FF2B5EF4-FFF2-40B4-BE49-F238E27FC236}">
                <a16:creationId xmlns:a16="http://schemas.microsoft.com/office/drawing/2014/main" id="{2A38F67B-6F43-1774-F615-DDFFF883F3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0960" y="1605913"/>
            <a:ext cx="461666" cy="46166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BEF0EB0-BF58-2075-81D5-701736B57FE7}"/>
              </a:ext>
            </a:extLst>
          </p:cNvPr>
          <p:cNvSpPr txBox="1"/>
          <p:nvPr/>
        </p:nvSpPr>
        <p:spPr>
          <a:xfrm>
            <a:off x="6954988" y="2073444"/>
            <a:ext cx="130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Arquiteto </a:t>
            </a:r>
          </a:p>
          <a:p>
            <a:pPr algn="ctr"/>
            <a:r>
              <a:rPr lang="pt-BR" sz="9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DevOps</a:t>
            </a:r>
            <a:endParaRPr lang="pt-BR" sz="1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DB6C87F7-38D4-C4C3-304B-73A5D1E80D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2935" y="1619951"/>
            <a:ext cx="461665" cy="461665"/>
          </a:xfrm>
          <a:prstGeom prst="rect">
            <a:avLst/>
          </a:prstGeom>
        </p:spPr>
      </p:pic>
      <p:sp>
        <p:nvSpPr>
          <p:cNvPr id="6" name="Google Shape;1885;p152">
            <a:extLst>
              <a:ext uri="{FF2B5EF4-FFF2-40B4-BE49-F238E27FC236}">
                <a16:creationId xmlns:a16="http://schemas.microsoft.com/office/drawing/2014/main" id="{5EEE4F8F-0D6D-4602-6833-A62941153CD6}"/>
              </a:ext>
            </a:extLst>
          </p:cNvPr>
          <p:cNvSpPr txBox="1"/>
          <p:nvPr/>
        </p:nvSpPr>
        <p:spPr>
          <a:xfrm>
            <a:off x="268197" y="70775"/>
            <a:ext cx="83274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Nova estrutura da equipe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70AE794-3A59-C0E7-F939-0848FD5A3148}"/>
              </a:ext>
            </a:extLst>
          </p:cNvPr>
          <p:cNvSpPr txBox="1"/>
          <p:nvPr/>
        </p:nvSpPr>
        <p:spPr>
          <a:xfrm>
            <a:off x="444429" y="2288157"/>
            <a:ext cx="130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Delivery </a:t>
            </a:r>
          </a:p>
          <a:p>
            <a:pPr algn="ctr"/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Manager</a:t>
            </a:r>
            <a:endParaRPr lang="pt-BR" sz="10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0" name="Imagem 19" descr="Ícone&#10;&#10;Descrição gerada automaticamente">
            <a:extLst>
              <a:ext uri="{FF2B5EF4-FFF2-40B4-BE49-F238E27FC236}">
                <a16:creationId xmlns:a16="http://schemas.microsoft.com/office/drawing/2014/main" id="{0BFE8DB9-0B0F-B951-716B-6A69FD135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696" y="1842418"/>
            <a:ext cx="461665" cy="461665"/>
          </a:xfrm>
          <a:prstGeom prst="rect">
            <a:avLst/>
          </a:prstGeom>
        </p:spPr>
      </p:pic>
      <p:cxnSp>
        <p:nvCxnSpPr>
          <p:cNvPr id="25" name="Conector: Angulado 24">
            <a:extLst>
              <a:ext uri="{FF2B5EF4-FFF2-40B4-BE49-F238E27FC236}">
                <a16:creationId xmlns:a16="http://schemas.microsoft.com/office/drawing/2014/main" id="{24DD6662-3484-1FD1-B12C-9A6AA04F9B55}"/>
              </a:ext>
            </a:extLst>
          </p:cNvPr>
          <p:cNvCxnSpPr>
            <a:cxnSpLocks/>
          </p:cNvCxnSpPr>
          <p:nvPr/>
        </p:nvCxnSpPr>
        <p:spPr>
          <a:xfrm>
            <a:off x="3450337" y="2922662"/>
            <a:ext cx="873835" cy="651812"/>
          </a:xfrm>
          <a:prstGeom prst="bentConnector3">
            <a:avLst>
              <a:gd name="adj1" fmla="val 99876"/>
            </a:avLst>
          </a:prstGeom>
          <a:ln>
            <a:solidFill>
              <a:srgbClr val="E62263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E72837FD-E613-C28F-B615-5E1AA35B5CF4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3450337" y="2462987"/>
            <a:ext cx="1682612" cy="9836"/>
          </a:xfrm>
          <a:prstGeom prst="straightConnector1">
            <a:avLst/>
          </a:prstGeom>
          <a:ln>
            <a:solidFill>
              <a:srgbClr val="E62263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9CD9AD50-4C65-016C-71F2-891D175A905E}"/>
              </a:ext>
            </a:extLst>
          </p:cNvPr>
          <p:cNvSpPr txBox="1"/>
          <p:nvPr/>
        </p:nvSpPr>
        <p:spPr>
          <a:xfrm>
            <a:off x="7803487" y="2065078"/>
            <a:ext cx="130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Arquiteto </a:t>
            </a:r>
          </a:p>
          <a:p>
            <a:pPr algn="ctr"/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Dynamics</a:t>
            </a:r>
            <a:endParaRPr lang="pt-BR" sz="1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Imagem 11" descr="Ícone&#10;&#10;Descrição gerada automaticamente">
            <a:extLst>
              <a:ext uri="{FF2B5EF4-FFF2-40B4-BE49-F238E27FC236}">
                <a16:creationId xmlns:a16="http://schemas.microsoft.com/office/drawing/2014/main" id="{2B69D015-4B41-1903-841F-3D56162C75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434" y="1611585"/>
            <a:ext cx="461665" cy="46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356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5"/>
          <p:cNvSpPr/>
          <p:nvPr/>
        </p:nvSpPr>
        <p:spPr>
          <a:xfrm rot="5400000">
            <a:off x="1900175" y="-2059350"/>
            <a:ext cx="5336100" cy="9264300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5"/>
          <p:cNvSpPr txBox="1"/>
          <p:nvPr/>
        </p:nvSpPr>
        <p:spPr>
          <a:xfrm>
            <a:off x="-312450" y="2445000"/>
            <a:ext cx="9768900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Atuação</a:t>
            </a:r>
            <a:endParaRPr sz="48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4075025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6" name="Google Shape;1076;p106"/>
          <p:cNvPicPr preferRelativeResize="0"/>
          <p:nvPr/>
        </p:nvPicPr>
        <p:blipFill rotWithShape="1">
          <a:blip r:embed="rId3">
            <a:alphaModFix/>
          </a:blip>
          <a:srcRect l="51116" t="24733" b="19256"/>
          <a:stretch/>
        </p:blipFill>
        <p:spPr>
          <a:xfrm>
            <a:off x="876" y="0"/>
            <a:ext cx="896434" cy="2102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106"/>
          <p:cNvPicPr preferRelativeResize="0"/>
          <p:nvPr/>
        </p:nvPicPr>
        <p:blipFill rotWithShape="1">
          <a:blip r:embed="rId4">
            <a:alphaModFix/>
          </a:blip>
          <a:srcRect l="33368" t="30255" r="19107"/>
          <a:stretch/>
        </p:blipFill>
        <p:spPr>
          <a:xfrm>
            <a:off x="1" y="0"/>
            <a:ext cx="897308" cy="27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1E94E42-DAB9-4821-B499-1D3BEDE5F9D8}"/>
              </a:ext>
            </a:extLst>
          </p:cNvPr>
          <p:cNvSpPr/>
          <p:nvPr/>
        </p:nvSpPr>
        <p:spPr>
          <a:xfrm>
            <a:off x="575361" y="1213232"/>
            <a:ext cx="2882586" cy="3186182"/>
          </a:xfrm>
          <a:prstGeom prst="roundRect">
            <a:avLst/>
          </a:prstGeom>
          <a:solidFill>
            <a:srgbClr val="2CB3AF"/>
          </a:solidFill>
          <a:ln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64C2ACF-6BF9-8318-8C29-A38F3484E78E}"/>
              </a:ext>
            </a:extLst>
          </p:cNvPr>
          <p:cNvSpPr txBox="1"/>
          <p:nvPr/>
        </p:nvSpPr>
        <p:spPr>
          <a:xfrm>
            <a:off x="771993" y="901155"/>
            <a:ext cx="25549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dirty="0" err="1">
                <a:solidFill>
                  <a:srgbClr val="7F7F7F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Squad</a:t>
            </a:r>
            <a:r>
              <a:rPr lang="pt-BR" sz="1400" b="1" dirty="0">
                <a:solidFill>
                  <a:srgbClr val="7F7F7F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 Captar</a:t>
            </a:r>
          </a:p>
        </p:txBody>
      </p:sp>
      <p:pic>
        <p:nvPicPr>
          <p:cNvPr id="4" name="Google Shape;1150;p50">
            <a:extLst>
              <a:ext uri="{FF2B5EF4-FFF2-40B4-BE49-F238E27FC236}">
                <a16:creationId xmlns:a16="http://schemas.microsoft.com/office/drawing/2014/main" id="{ADFDE5A6-5B6E-D80D-DE18-47521AFE413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3541" y="2469930"/>
            <a:ext cx="461665" cy="4728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851C359-7EBE-C8C9-18B1-AC62D707D33F}"/>
              </a:ext>
            </a:extLst>
          </p:cNvPr>
          <p:cNvSpPr txBox="1"/>
          <p:nvPr/>
        </p:nvSpPr>
        <p:spPr>
          <a:xfrm>
            <a:off x="1403818" y="2873583"/>
            <a:ext cx="130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Desenvolvedores Dynamics365</a:t>
            </a:r>
            <a:endParaRPr lang="pt-BR" sz="10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6A7A8A-C715-DBB1-87BB-66E167B134B8}"/>
              </a:ext>
            </a:extLst>
          </p:cNvPr>
          <p:cNvSpPr txBox="1"/>
          <p:nvPr/>
        </p:nvSpPr>
        <p:spPr>
          <a:xfrm>
            <a:off x="274794" y="2950793"/>
            <a:ext cx="158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Desenvolvedor </a:t>
            </a:r>
          </a:p>
          <a:p>
            <a:pPr algn="ctr"/>
            <a:r>
              <a:rPr lang="pt-BR" sz="900" b="1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.Net</a:t>
            </a:r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pt-BR" sz="10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Imagem 6" descr="Ícone&#10;&#10;Descrição gerada automaticamente">
            <a:extLst>
              <a:ext uri="{FF2B5EF4-FFF2-40B4-BE49-F238E27FC236}">
                <a16:creationId xmlns:a16="http://schemas.microsoft.com/office/drawing/2014/main" id="{4BBB643D-FE10-5F00-DEAE-F791071902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008" y="2489128"/>
            <a:ext cx="461665" cy="46166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BE852511-7EF1-50C3-102C-8F1DE4DD3496}"/>
              </a:ext>
            </a:extLst>
          </p:cNvPr>
          <p:cNvSpPr txBox="1"/>
          <p:nvPr/>
        </p:nvSpPr>
        <p:spPr>
          <a:xfrm>
            <a:off x="2173031" y="3823614"/>
            <a:ext cx="158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Analista </a:t>
            </a:r>
          </a:p>
          <a:p>
            <a:pPr algn="ctr"/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Funcional</a:t>
            </a:r>
            <a:endParaRPr lang="pt-BR" sz="10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9" name="Imagem 8" descr="Ícone&#10;&#10;Descrição gerada automaticamente">
            <a:extLst>
              <a:ext uri="{FF2B5EF4-FFF2-40B4-BE49-F238E27FC236}">
                <a16:creationId xmlns:a16="http://schemas.microsoft.com/office/drawing/2014/main" id="{419D0334-5C1B-AE1D-8A95-78DB8B0072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6058" y="3353929"/>
            <a:ext cx="461666" cy="461666"/>
          </a:xfrm>
          <a:prstGeom prst="rect">
            <a:avLst/>
          </a:prstGeom>
        </p:spPr>
      </p:pic>
      <p:pic>
        <p:nvPicPr>
          <p:cNvPr id="10" name="Imagem 9" descr="Ícone&#10;&#10;Descrição gerada automaticamente">
            <a:extLst>
              <a:ext uri="{FF2B5EF4-FFF2-40B4-BE49-F238E27FC236}">
                <a16:creationId xmlns:a16="http://schemas.microsoft.com/office/drawing/2014/main" id="{4F02764E-3E84-2F06-BD17-40F3AB2C81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7567" y="1450612"/>
            <a:ext cx="461665" cy="46166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1E1EE488-DE78-EAC1-CA64-B2C81E4DEB02}"/>
              </a:ext>
            </a:extLst>
          </p:cNvPr>
          <p:cNvSpPr txBox="1"/>
          <p:nvPr/>
        </p:nvSpPr>
        <p:spPr>
          <a:xfrm>
            <a:off x="2105313" y="1912277"/>
            <a:ext cx="158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Analista de </a:t>
            </a:r>
          </a:p>
          <a:p>
            <a:pPr algn="ctr"/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Qualidade</a:t>
            </a:r>
            <a:endParaRPr lang="pt-BR" sz="10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B3FC3C2-A25A-EFAC-484C-A09998FF52DE}"/>
              </a:ext>
            </a:extLst>
          </p:cNvPr>
          <p:cNvSpPr txBox="1"/>
          <p:nvPr/>
        </p:nvSpPr>
        <p:spPr>
          <a:xfrm>
            <a:off x="324046" y="1914271"/>
            <a:ext cx="130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Product</a:t>
            </a:r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pPr algn="ctr"/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Manager</a:t>
            </a:r>
            <a:endParaRPr lang="pt-BR" sz="10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3" name="Imagem 12" descr="Ícone&#10;&#10;Descrição gerada automaticamente">
            <a:extLst>
              <a:ext uri="{FF2B5EF4-FFF2-40B4-BE49-F238E27FC236}">
                <a16:creationId xmlns:a16="http://schemas.microsoft.com/office/drawing/2014/main" id="{CE350587-B03E-3154-DAAF-934B41363E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993" y="1460778"/>
            <a:ext cx="461665" cy="461665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FDF96695-0FAD-C7C6-04C3-B16B73977BEC}"/>
              </a:ext>
            </a:extLst>
          </p:cNvPr>
          <p:cNvSpPr txBox="1"/>
          <p:nvPr/>
        </p:nvSpPr>
        <p:spPr>
          <a:xfrm>
            <a:off x="1197548" y="3844205"/>
            <a:ext cx="158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UI</a:t>
            </a:r>
          </a:p>
          <a:p>
            <a:pPr algn="ctr"/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Designer</a:t>
            </a:r>
            <a:endParaRPr lang="pt-BR" sz="1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5" name="Imagem 14" descr="Ícone&#10;&#10;Descrição gerada automaticamente">
            <a:extLst>
              <a:ext uri="{FF2B5EF4-FFF2-40B4-BE49-F238E27FC236}">
                <a16:creationId xmlns:a16="http://schemas.microsoft.com/office/drawing/2014/main" id="{61EF99D8-9B6C-D1F9-478B-79E25156E0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0575" y="3374520"/>
            <a:ext cx="461666" cy="461666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C4FD369C-A1EF-22A4-113D-B066E573D926}"/>
              </a:ext>
            </a:extLst>
          </p:cNvPr>
          <p:cNvSpPr txBox="1"/>
          <p:nvPr/>
        </p:nvSpPr>
        <p:spPr>
          <a:xfrm>
            <a:off x="324046" y="3849483"/>
            <a:ext cx="130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Arquiteto </a:t>
            </a:r>
          </a:p>
          <a:p>
            <a:pPr algn="ctr"/>
            <a:r>
              <a:rPr lang="pt-BR" sz="9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DevOps</a:t>
            </a:r>
            <a:endParaRPr lang="pt-BR" sz="1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7" name="Imagem 16" descr="Ícone&#10;&#10;Descrição gerada automaticamente">
            <a:extLst>
              <a:ext uri="{FF2B5EF4-FFF2-40B4-BE49-F238E27FC236}">
                <a16:creationId xmlns:a16="http://schemas.microsoft.com/office/drawing/2014/main" id="{EF85766B-FF05-4016-0EB0-10FAFB9D5D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993" y="3395990"/>
            <a:ext cx="461665" cy="461665"/>
          </a:xfrm>
          <a:prstGeom prst="rect">
            <a:avLst/>
          </a:prstGeom>
        </p:spPr>
      </p:pic>
      <p:sp>
        <p:nvSpPr>
          <p:cNvPr id="18" name="Google Shape;1078;p106">
            <a:extLst>
              <a:ext uri="{FF2B5EF4-FFF2-40B4-BE49-F238E27FC236}">
                <a16:creationId xmlns:a16="http://schemas.microsoft.com/office/drawing/2014/main" id="{665B11EC-BA77-6665-B3C5-9170B871F633}"/>
              </a:ext>
            </a:extLst>
          </p:cNvPr>
          <p:cNvSpPr txBox="1"/>
          <p:nvPr/>
        </p:nvSpPr>
        <p:spPr>
          <a:xfrm>
            <a:off x="3626539" y="0"/>
            <a:ext cx="5459278" cy="474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lang="pt-BR" sz="850" b="1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Product</a:t>
            </a:r>
            <a:r>
              <a:rPr lang="pt-BR" sz="850" b="1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Manager </a:t>
            </a:r>
            <a:r>
              <a:rPr lang="pt-BR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deverá apoiar o time no entendimento do negócio. Será uma ponte de comunicação entre a </a:t>
            </a:r>
            <a:r>
              <a:rPr lang="pt-BR" sz="85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squad</a:t>
            </a:r>
            <a:r>
              <a:rPr lang="pt-BR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e o time Kroton. Deverá minimizar as complexidades do negócio. Atuará diretamente na Kroton como ponto central das demandas para o time e deverá participar das PI </a:t>
            </a:r>
            <a:r>
              <a:rPr lang="pt-BR" sz="85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Plannings</a:t>
            </a:r>
            <a:r>
              <a:rPr lang="pt-BR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e demais eventos.</a:t>
            </a: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850" b="1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indent="-171450" algn="just">
              <a:lnSpc>
                <a:spcPct val="115000"/>
              </a:lnSpc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pt-BR" sz="850" b="1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Delivery Manager  </a:t>
            </a:r>
            <a:r>
              <a:rPr lang="pt-BR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é responsável pela gestão das entregas e releases da </a:t>
            </a:r>
            <a:r>
              <a:rPr lang="pt-BR" sz="85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squad</a:t>
            </a:r>
            <a:r>
              <a:rPr lang="pt-BR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. Deverá administrar as atividade da equipe assim como reportar o seu progresso, assegurando a capacidade de atuação do time e sua entrega. Estará presente no dia a dia da Kroton </a:t>
            </a:r>
            <a:r>
              <a:rPr lang="pt-BR" sz="85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interfaciando</a:t>
            </a:r>
            <a:r>
              <a:rPr lang="pt-BR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com os pontos do projeto.</a:t>
            </a:r>
          </a:p>
          <a:p>
            <a:pPr marL="171450" indent="-171450" algn="just">
              <a:lnSpc>
                <a:spcPct val="115000"/>
              </a:lnSpc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850" b="1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pt-BR" sz="850" b="1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Arquiteto Dynamics </a:t>
            </a:r>
            <a:r>
              <a:rPr lang="pt-BR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será responsável pelas definições arquiteturais das soluções do D365, assim como suas integrações e componentes a serem utilizados. Além disso, deverá ser o guardião do processo de desenvolvimento da solução, definindo políticas para </a:t>
            </a:r>
            <a:r>
              <a:rPr lang="pt-BR" sz="85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deploys</a:t>
            </a:r>
            <a:r>
              <a:rPr lang="pt-BR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, gestão de ambientes, acessos e pipelines de CI/CD.</a:t>
            </a: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85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pt-BR" sz="850" b="1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Arquiteto </a:t>
            </a:r>
            <a:r>
              <a:rPr lang="pt-BR" sz="850" b="1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DevOps</a:t>
            </a:r>
            <a:r>
              <a:rPr lang="pt-BR" sz="850" b="1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deverá aplicar as definições definidas pelo arquiteto e DM sobre as pipelines de CI/CD, além disso apoiar o time nas boas práticas de </a:t>
            </a:r>
            <a:r>
              <a:rPr lang="pt-BR" sz="85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DevOps</a:t>
            </a:r>
            <a:r>
              <a:rPr lang="en-US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85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pt-BR" sz="850" b="1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UI Designer </a:t>
            </a:r>
            <a:r>
              <a:rPr lang="pt-BR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trabalhar</a:t>
            </a:r>
            <a:r>
              <a:rPr lang="en-US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á </a:t>
            </a:r>
            <a:r>
              <a:rPr lang="en-US" sz="85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próximo</a:t>
            </a:r>
            <a:r>
              <a:rPr lang="en-US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85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ao</a:t>
            </a:r>
            <a:r>
              <a:rPr lang="en-US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time no </a:t>
            </a:r>
            <a:r>
              <a:rPr lang="en-US" sz="85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refinamento</a:t>
            </a:r>
            <a:r>
              <a:rPr lang="en-US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en-US" sz="85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planejamento</a:t>
            </a:r>
            <a:r>
              <a:rPr lang="en-US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das </a:t>
            </a:r>
            <a:r>
              <a:rPr lang="en-US" sz="85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histórias</a:t>
            </a:r>
            <a:r>
              <a:rPr lang="en-US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dos </a:t>
            </a:r>
            <a:r>
              <a:rPr lang="en-US" sz="85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usuários</a:t>
            </a:r>
            <a:r>
              <a:rPr lang="en-US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85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auxiliando</a:t>
            </a:r>
            <a:r>
              <a:rPr lang="en-US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o Product Manager </a:t>
            </a:r>
            <a:r>
              <a:rPr lang="en-US" sz="85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na</a:t>
            </a:r>
            <a:r>
              <a:rPr lang="en-US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85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construção</a:t>
            </a:r>
            <a:r>
              <a:rPr lang="en-US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85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protótipos</a:t>
            </a:r>
            <a:r>
              <a:rPr lang="en-US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e mockups que </a:t>
            </a:r>
            <a:r>
              <a:rPr lang="en-US" sz="85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auxiliarão</a:t>
            </a:r>
            <a:r>
              <a:rPr lang="en-US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o time </a:t>
            </a:r>
            <a:r>
              <a:rPr lang="en-US" sz="85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em</a:t>
            </a:r>
            <a:r>
              <a:rPr lang="en-US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85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seu</a:t>
            </a:r>
            <a:r>
              <a:rPr lang="en-US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85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desenvolvimento</a:t>
            </a:r>
            <a:r>
              <a:rPr lang="en-US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en-US" sz="85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indent="-171450" algn="just">
              <a:lnSpc>
                <a:spcPct val="115000"/>
              </a:lnSpc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lang="pt-BR" sz="850" b="1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Analista Funcional </a:t>
            </a:r>
            <a:r>
              <a:rPr lang="pt-BR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deverá atuar próximo do PM realizando o entendimento das demandas de negócio e traduzindo suas especificações para histórias de usuários a serem levadas ao time.</a:t>
            </a:r>
          </a:p>
          <a:p>
            <a:pPr marL="171450" indent="-171450" algn="just">
              <a:lnSpc>
                <a:spcPct val="115000"/>
              </a:lnSpc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850" b="1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pt-BR" sz="850" b="1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Analista de Qualidade </a:t>
            </a:r>
            <a:r>
              <a:rPr lang="pt-BR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ficará atuando na realização de testes manuais funcionais e exploratórios sobre a solução, assim como dará início ao processo de automação dos </a:t>
            </a:r>
            <a:r>
              <a:rPr lang="pt-BR" sz="85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cen</a:t>
            </a:r>
            <a:r>
              <a:rPr lang="en-US" sz="85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ários</a:t>
            </a:r>
            <a:r>
              <a:rPr lang="en-US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de</a:t>
            </a:r>
            <a:r>
              <a:rPr lang="pt-BR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850" b="1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Os</a:t>
            </a:r>
            <a:r>
              <a:rPr lang="pt-BR" sz="850" b="1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Desenvolvedores </a:t>
            </a:r>
            <a:r>
              <a:rPr lang="pt-BR" sz="850" b="1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.Net</a:t>
            </a:r>
            <a:r>
              <a:rPr lang="pt-BR" sz="850" b="1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e D365 </a:t>
            </a:r>
            <a:r>
              <a:rPr lang="pt-BR" sz="85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serão responsáveis pela implementação das funcionalidades nos ambientes de desenvolvimento do D365. Além disso, serão os detentores do conhecimento técnico da solução</a:t>
            </a:r>
            <a:endParaRPr lang="pt-BR" sz="850" b="1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900" b="1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1DC0F7F-CF9B-CCFF-3623-08623B1A482D}"/>
              </a:ext>
            </a:extLst>
          </p:cNvPr>
          <p:cNvSpPr txBox="1"/>
          <p:nvPr/>
        </p:nvSpPr>
        <p:spPr>
          <a:xfrm>
            <a:off x="1264043" y="1889125"/>
            <a:ext cx="130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Delivery </a:t>
            </a:r>
          </a:p>
          <a:p>
            <a:pPr algn="ctr"/>
            <a:r>
              <a:rPr lang="pt-BR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Manager</a:t>
            </a:r>
            <a:endParaRPr lang="pt-BR" sz="10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1" name="Imagem 20" descr="Ícone&#10;&#10;Descrição gerada automaticamente">
            <a:extLst>
              <a:ext uri="{FF2B5EF4-FFF2-40B4-BE49-F238E27FC236}">
                <a16:creationId xmlns:a16="http://schemas.microsoft.com/office/drawing/2014/main" id="{6BE7482B-C9ED-B946-6925-9BE5193F42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1128" y="1443386"/>
            <a:ext cx="461665" cy="461665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29781979-C6F4-5B69-2B3F-E3D6F88C0CA4}"/>
              </a:ext>
            </a:extLst>
          </p:cNvPr>
          <p:cNvSpPr txBox="1"/>
          <p:nvPr/>
        </p:nvSpPr>
        <p:spPr>
          <a:xfrm>
            <a:off x="2337322" y="2889850"/>
            <a:ext cx="130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Arquiteto </a:t>
            </a:r>
          </a:p>
          <a:p>
            <a:pPr algn="ctr"/>
            <a:r>
              <a:rPr lang="pt-BR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Dynamics</a:t>
            </a:r>
            <a:endParaRPr lang="pt-BR" sz="1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0AA292BD-FD77-E2F8-EDE8-95721BD717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5269" y="2436357"/>
            <a:ext cx="461665" cy="46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48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3"/>
          <p:cNvSpPr/>
          <p:nvPr/>
        </p:nvSpPr>
        <p:spPr>
          <a:xfrm>
            <a:off x="75" y="0"/>
            <a:ext cx="9144000" cy="5279700"/>
          </a:xfrm>
          <a:prstGeom prst="rect">
            <a:avLst/>
          </a:prstGeom>
          <a:solidFill>
            <a:srgbClr val="E622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3"/>
          <p:cNvSpPr txBox="1"/>
          <p:nvPr/>
        </p:nvSpPr>
        <p:spPr>
          <a:xfrm>
            <a:off x="2402100" y="2357475"/>
            <a:ext cx="5147700" cy="7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Premissas.</a:t>
            </a:r>
            <a:endParaRPr sz="3000" b="0" i="0" u="none" strike="noStrike" cap="non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03" name="Google Shape;303;p43"/>
          <p:cNvSpPr txBox="1"/>
          <p:nvPr/>
        </p:nvSpPr>
        <p:spPr>
          <a:xfrm>
            <a:off x="1128900" y="2001192"/>
            <a:ext cx="1414500" cy="7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6000" b="0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06.</a:t>
            </a:r>
            <a:endParaRPr sz="6000" b="0" i="0" u="none" strike="noStrike" cap="none" dirty="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59290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52"/>
          <p:cNvPicPr preferRelativeResize="0"/>
          <p:nvPr/>
        </p:nvPicPr>
        <p:blipFill rotWithShape="1">
          <a:blip r:embed="rId3">
            <a:alphaModFix/>
          </a:blip>
          <a:srcRect l="51116" t="24733" b="19256"/>
          <a:stretch/>
        </p:blipFill>
        <p:spPr>
          <a:xfrm>
            <a:off x="875" y="0"/>
            <a:ext cx="1966199" cy="350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52"/>
          <p:cNvPicPr preferRelativeResize="0"/>
          <p:nvPr/>
        </p:nvPicPr>
        <p:blipFill rotWithShape="1">
          <a:blip r:embed="rId4">
            <a:alphaModFix/>
          </a:blip>
          <a:srcRect l="33371" t="30255" r="19103"/>
          <a:stretch/>
        </p:blipFill>
        <p:spPr>
          <a:xfrm>
            <a:off x="0" y="0"/>
            <a:ext cx="1777125" cy="4060698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52"/>
          <p:cNvSpPr txBox="1"/>
          <p:nvPr/>
        </p:nvSpPr>
        <p:spPr>
          <a:xfrm>
            <a:off x="5007150" y="304800"/>
            <a:ext cx="3576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1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Este modelo tem como premissa base a pa</a:t>
            </a:r>
            <a:r>
              <a:rPr lang="pt-BR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rticipação do PM da </a:t>
            </a:r>
            <a:r>
              <a:rPr lang="pt-BR" sz="11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Keeggo</a:t>
            </a:r>
            <a:r>
              <a:rPr lang="pt-BR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nas </a:t>
            </a:r>
            <a:r>
              <a:rPr lang="pt-BR" sz="11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PIs</a:t>
            </a:r>
            <a:r>
              <a:rPr lang="pt-BR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1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plannings</a:t>
            </a:r>
            <a:r>
              <a:rPr lang="pt-BR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do PTK;</a:t>
            </a: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O PM deverá estar presente nas reuniões de refinamento e priorização do time Kroton;</a:t>
            </a: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A comunicação da Kroton para com a </a:t>
            </a:r>
            <a:r>
              <a:rPr lang="pt-BR" sz="11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squad</a:t>
            </a:r>
            <a:r>
              <a:rPr lang="pt-BR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deverá ser feita exclusivamente através do DM e PM;</a:t>
            </a: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1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As </a:t>
            </a:r>
            <a:r>
              <a:rPr lang="pt-BR" sz="1100" b="0" i="0" u="none" strike="noStrike" cap="none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repriorizações</a:t>
            </a:r>
            <a:r>
              <a:rPr lang="pt-BR" sz="11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e inclusões de histórias deverão ser alinhadas e avaliadas caso a caso com o  PM e DM;</a:t>
            </a: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endParaRPr lang="pt-BR" sz="11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1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A atuação da </a:t>
            </a:r>
            <a:r>
              <a:rPr lang="pt-BR" sz="1100" b="0" i="0" u="none" strike="noStrike" cap="none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squad</a:t>
            </a:r>
            <a:r>
              <a:rPr lang="pt-BR" sz="11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Captar será 100% remota.</a:t>
            </a: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1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O aumento das demandas poderá acarretar em revisão dos valores apresentados nesta proposta.</a:t>
            </a:r>
            <a:endParaRPr lang="pt-BR"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1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1" name="Google Shape;391;p52"/>
          <p:cNvSpPr txBox="1"/>
          <p:nvPr/>
        </p:nvSpPr>
        <p:spPr>
          <a:xfrm>
            <a:off x="2012588" y="631625"/>
            <a:ext cx="2759100" cy="7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>
                <a:solidFill>
                  <a:srgbClr val="E6226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Premissas</a:t>
            </a:r>
            <a:endParaRPr sz="2400" b="0" i="0" u="none" strike="noStrike" cap="none">
              <a:solidFill>
                <a:srgbClr val="E6226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5247280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52"/>
          <p:cNvPicPr preferRelativeResize="0"/>
          <p:nvPr/>
        </p:nvPicPr>
        <p:blipFill rotWithShape="1">
          <a:blip r:embed="rId3">
            <a:alphaModFix/>
          </a:blip>
          <a:srcRect l="51116" t="24733" b="19256"/>
          <a:stretch/>
        </p:blipFill>
        <p:spPr>
          <a:xfrm>
            <a:off x="875" y="0"/>
            <a:ext cx="1966199" cy="350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52"/>
          <p:cNvPicPr preferRelativeResize="0"/>
          <p:nvPr/>
        </p:nvPicPr>
        <p:blipFill rotWithShape="1">
          <a:blip r:embed="rId4">
            <a:alphaModFix/>
          </a:blip>
          <a:srcRect l="33371" t="30255" r="19103"/>
          <a:stretch/>
        </p:blipFill>
        <p:spPr>
          <a:xfrm>
            <a:off x="0" y="0"/>
            <a:ext cx="1777125" cy="4060698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52"/>
          <p:cNvSpPr txBox="1"/>
          <p:nvPr/>
        </p:nvSpPr>
        <p:spPr>
          <a:xfrm>
            <a:off x="4972314" y="313509"/>
            <a:ext cx="3684575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1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Bugs, incidentes e correções serão tratadas mediante buffer de 30% de sustentação da atuação da equipe. Em casos excepcionais, o impacto na entrega deverá ser tratado a parte;</a:t>
            </a: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1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1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Buffers adicionais para correções, bugs e incidentes não causados diretamente pela </a:t>
            </a:r>
            <a:r>
              <a:rPr lang="pt-BR" sz="1100" b="0" i="0" u="none" strike="noStrike" cap="none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squad</a:t>
            </a:r>
            <a:r>
              <a:rPr lang="pt-BR" sz="11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Captar serão contabilizados a parte (Buffer adicional).</a:t>
            </a: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1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1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Bugs, correções e incidentes causados diretamente pela </a:t>
            </a:r>
            <a:r>
              <a:rPr lang="pt-BR" sz="1100" b="0" i="0" u="none" strike="noStrike" cap="none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squad</a:t>
            </a:r>
            <a:r>
              <a:rPr lang="pt-BR" sz="11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Captar que comprometam a operação, serão tratados sem considerar o buffer de 30% de sustentação.</a:t>
            </a: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1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1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O modelo de trabalho aqui proposto deverá ser tocado no formato de piloto por 3 mese</a:t>
            </a:r>
            <a:r>
              <a:rPr lang="pt-BR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s.</a:t>
            </a: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Ao fim do processo piloto de 3 meses será desenvolvida uma matriz de responsabilidade sobre os papéis e cerimônias.</a:t>
            </a:r>
            <a:endParaRPr lang="pt-BR"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1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1" name="Google Shape;391;p52"/>
          <p:cNvSpPr txBox="1"/>
          <p:nvPr/>
        </p:nvSpPr>
        <p:spPr>
          <a:xfrm>
            <a:off x="2012588" y="631625"/>
            <a:ext cx="2759100" cy="7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>
                <a:solidFill>
                  <a:srgbClr val="E6226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Premissas</a:t>
            </a:r>
            <a:endParaRPr sz="2400" b="0" i="0" u="none" strike="noStrike" cap="none">
              <a:solidFill>
                <a:srgbClr val="E6226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1574485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50"/>
          <p:cNvPicPr preferRelativeResize="0"/>
          <p:nvPr/>
        </p:nvPicPr>
        <p:blipFill rotWithShape="1">
          <a:blip r:embed="rId3">
            <a:alphaModFix/>
          </a:blip>
          <a:srcRect l="51116" t="24733" b="19256"/>
          <a:stretch/>
        </p:blipFill>
        <p:spPr>
          <a:xfrm>
            <a:off x="875" y="0"/>
            <a:ext cx="1966199" cy="350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0"/>
          <p:cNvPicPr preferRelativeResize="0"/>
          <p:nvPr/>
        </p:nvPicPr>
        <p:blipFill rotWithShape="1">
          <a:blip r:embed="rId4">
            <a:alphaModFix/>
          </a:blip>
          <a:srcRect l="33371" t="30255" r="19103"/>
          <a:stretch/>
        </p:blipFill>
        <p:spPr>
          <a:xfrm>
            <a:off x="0" y="0"/>
            <a:ext cx="1777125" cy="4060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037EFDA-9CB4-4C97-C68D-80FE55092E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4333" y="956111"/>
            <a:ext cx="1001867" cy="1001867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6512BDE-D0BA-8D79-09EA-57D08159FC1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0" y="956111"/>
            <a:ext cx="1001867" cy="1001867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2CDD2E6-75EC-593E-6D21-8C014B33525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409667" y="956112"/>
            <a:ext cx="1001867" cy="1001867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7CB4024B-12D6-EF3D-0D4D-382E68D70A4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777125" y="2391539"/>
            <a:ext cx="1001867" cy="1001867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6E8290DA-65F4-62F2-E232-796FEE5F3BE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939459" y="2391539"/>
            <a:ext cx="1001867" cy="1001867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9492658A-CAF9-408B-7308-94F28E969DF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101793" y="2391538"/>
            <a:ext cx="1001867" cy="1001867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12E3C8AA-58EA-A969-9FFA-BEEDC285B46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264127" y="2368299"/>
            <a:ext cx="1001867" cy="1001867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1309A614-220A-2F76-B101-6F7496384F4B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426461" y="2362764"/>
            <a:ext cx="1001867" cy="1001867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C698581F-D5CC-2D8F-E822-963A03119257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588795" y="2362764"/>
            <a:ext cx="1001867" cy="1001867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1E7D8ACA-D5C8-C8FE-D2FB-9C5548386B4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782039" y="3765477"/>
            <a:ext cx="1001867" cy="1001867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A6CD5410-E3A9-90B7-74BD-F7C2A18BD290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2944373" y="3765477"/>
            <a:ext cx="1001867" cy="1001867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30D6F247-E1D9-8C42-BFE2-8B91F0E24F42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4106707" y="3765477"/>
            <a:ext cx="1001867" cy="1001867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285E17F3-F58E-F226-8E6A-B85562DF5E9F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5267403" y="3765476"/>
            <a:ext cx="1001867" cy="1001867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DB163CC0-4BAC-D376-A60C-DF93FD6CD9EB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6428099" y="3765475"/>
            <a:ext cx="1001867" cy="1001867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3212BCA9-028B-F8B8-5F9F-DF5AFF970822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7588795" y="3765474"/>
            <a:ext cx="1001867" cy="1001867"/>
          </a:xfrm>
          <a:prstGeom prst="ellipse">
            <a:avLst/>
          </a:prstGeom>
          <a:ln w="3175" cap="rnd">
            <a:solidFill>
              <a:schemeClr val="tx1"/>
            </a:solidFill>
          </a:ln>
          <a:effectLst/>
        </p:spPr>
      </p:pic>
      <p:sp>
        <p:nvSpPr>
          <p:cNvPr id="28" name="Google Shape;275;p40">
            <a:extLst>
              <a:ext uri="{FF2B5EF4-FFF2-40B4-BE49-F238E27FC236}">
                <a16:creationId xmlns:a16="http://schemas.microsoft.com/office/drawing/2014/main" id="{9DE96076-173A-E058-E9D4-8D44A7B08E97}"/>
              </a:ext>
            </a:extLst>
          </p:cNvPr>
          <p:cNvSpPr txBox="1"/>
          <p:nvPr/>
        </p:nvSpPr>
        <p:spPr>
          <a:xfrm>
            <a:off x="1768140" y="3297255"/>
            <a:ext cx="1001868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pt-BR" sz="7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ilippe</a:t>
            </a: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Saba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Delivery Manager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" name="Google Shape;275;p40">
            <a:extLst>
              <a:ext uri="{FF2B5EF4-FFF2-40B4-BE49-F238E27FC236}">
                <a16:creationId xmlns:a16="http://schemas.microsoft.com/office/drawing/2014/main" id="{000C2B71-C219-EF8F-893D-A1DACDD7218F}"/>
              </a:ext>
            </a:extLst>
          </p:cNvPr>
          <p:cNvSpPr txBox="1"/>
          <p:nvPr/>
        </p:nvSpPr>
        <p:spPr>
          <a:xfrm>
            <a:off x="2946010" y="3297254"/>
            <a:ext cx="1001868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Nathan Santos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Product</a:t>
            </a: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Manager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Google Shape;275;p40">
            <a:extLst>
              <a:ext uri="{FF2B5EF4-FFF2-40B4-BE49-F238E27FC236}">
                <a16:creationId xmlns:a16="http://schemas.microsoft.com/office/drawing/2014/main" id="{C1BD5CB8-5F26-DD73-ACEA-F23342D07FBA}"/>
              </a:ext>
            </a:extLst>
          </p:cNvPr>
          <p:cNvSpPr txBox="1"/>
          <p:nvPr/>
        </p:nvSpPr>
        <p:spPr>
          <a:xfrm>
            <a:off x="4108344" y="3297254"/>
            <a:ext cx="1001868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Philipe Mendonça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Tech Lead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Google Shape;275;p40">
            <a:extLst>
              <a:ext uri="{FF2B5EF4-FFF2-40B4-BE49-F238E27FC236}">
                <a16:creationId xmlns:a16="http://schemas.microsoft.com/office/drawing/2014/main" id="{698E2B21-C112-3F90-FC60-2D8DD5C1D984}"/>
              </a:ext>
            </a:extLst>
          </p:cNvPr>
          <p:cNvSpPr txBox="1"/>
          <p:nvPr/>
        </p:nvSpPr>
        <p:spPr>
          <a:xfrm>
            <a:off x="5208774" y="3297254"/>
            <a:ext cx="1179507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Nathalia Nascimento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Funcional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" name="Google Shape;275;p40">
            <a:extLst>
              <a:ext uri="{FF2B5EF4-FFF2-40B4-BE49-F238E27FC236}">
                <a16:creationId xmlns:a16="http://schemas.microsoft.com/office/drawing/2014/main" id="{CD0595E0-FD27-B9C0-5823-B2FA714B55D6}"/>
              </a:ext>
            </a:extLst>
          </p:cNvPr>
          <p:cNvSpPr txBox="1"/>
          <p:nvPr/>
        </p:nvSpPr>
        <p:spPr>
          <a:xfrm>
            <a:off x="6428612" y="3297254"/>
            <a:ext cx="1001868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Igor Wagner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Dynamics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" name="Google Shape;275;p40">
            <a:extLst>
              <a:ext uri="{FF2B5EF4-FFF2-40B4-BE49-F238E27FC236}">
                <a16:creationId xmlns:a16="http://schemas.microsoft.com/office/drawing/2014/main" id="{41318E2A-C808-3739-CF99-373C80EC6127}"/>
              </a:ext>
            </a:extLst>
          </p:cNvPr>
          <p:cNvSpPr txBox="1"/>
          <p:nvPr/>
        </p:nvSpPr>
        <p:spPr>
          <a:xfrm>
            <a:off x="7588795" y="3297253"/>
            <a:ext cx="1001868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Kallebe</a:t>
            </a: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Monteiro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DevOps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" name="Google Shape;275;p40">
            <a:extLst>
              <a:ext uri="{FF2B5EF4-FFF2-40B4-BE49-F238E27FC236}">
                <a16:creationId xmlns:a16="http://schemas.microsoft.com/office/drawing/2014/main" id="{DAE2C65E-F4AB-ED77-2EF2-D7B51705F4AE}"/>
              </a:ext>
            </a:extLst>
          </p:cNvPr>
          <p:cNvSpPr txBox="1"/>
          <p:nvPr/>
        </p:nvSpPr>
        <p:spPr>
          <a:xfrm>
            <a:off x="1768140" y="4699967"/>
            <a:ext cx="1001868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Gustavo Souza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Dynamics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" name="Google Shape;275;p40">
            <a:extLst>
              <a:ext uri="{FF2B5EF4-FFF2-40B4-BE49-F238E27FC236}">
                <a16:creationId xmlns:a16="http://schemas.microsoft.com/office/drawing/2014/main" id="{068BE534-B4D5-77AD-3802-9DE1058ECBEF}"/>
              </a:ext>
            </a:extLst>
          </p:cNvPr>
          <p:cNvSpPr txBox="1"/>
          <p:nvPr/>
        </p:nvSpPr>
        <p:spPr>
          <a:xfrm>
            <a:off x="2946010" y="4699966"/>
            <a:ext cx="1001868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TBD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Dynamics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" name="Google Shape;275;p40">
            <a:extLst>
              <a:ext uri="{FF2B5EF4-FFF2-40B4-BE49-F238E27FC236}">
                <a16:creationId xmlns:a16="http://schemas.microsoft.com/office/drawing/2014/main" id="{7C8E3564-FC91-D294-818A-748379D932AC}"/>
              </a:ext>
            </a:extLst>
          </p:cNvPr>
          <p:cNvSpPr txBox="1"/>
          <p:nvPr/>
        </p:nvSpPr>
        <p:spPr>
          <a:xfrm>
            <a:off x="4108344" y="4699966"/>
            <a:ext cx="1001868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David Mendonça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Pro-</a:t>
            </a:r>
            <a:r>
              <a:rPr lang="pt-BR" sz="7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code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" name="Google Shape;275;p40">
            <a:extLst>
              <a:ext uri="{FF2B5EF4-FFF2-40B4-BE49-F238E27FC236}">
                <a16:creationId xmlns:a16="http://schemas.microsoft.com/office/drawing/2014/main" id="{27E43C04-0DD6-072B-C324-FD562E80543A}"/>
              </a:ext>
            </a:extLst>
          </p:cNvPr>
          <p:cNvSpPr txBox="1"/>
          <p:nvPr/>
        </p:nvSpPr>
        <p:spPr>
          <a:xfrm>
            <a:off x="5208774" y="4699966"/>
            <a:ext cx="1179507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Guilherme Brito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Pro-</a:t>
            </a:r>
            <a:r>
              <a:rPr lang="pt-BR" sz="7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code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275;p40">
            <a:extLst>
              <a:ext uri="{FF2B5EF4-FFF2-40B4-BE49-F238E27FC236}">
                <a16:creationId xmlns:a16="http://schemas.microsoft.com/office/drawing/2014/main" id="{F5192553-F4AD-A9FA-C3DB-C26229CF5608}"/>
              </a:ext>
            </a:extLst>
          </p:cNvPr>
          <p:cNvSpPr txBox="1"/>
          <p:nvPr/>
        </p:nvSpPr>
        <p:spPr>
          <a:xfrm>
            <a:off x="6428612" y="4699966"/>
            <a:ext cx="1001868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Angelica Lemos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QA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275;p40">
            <a:extLst>
              <a:ext uri="{FF2B5EF4-FFF2-40B4-BE49-F238E27FC236}">
                <a16:creationId xmlns:a16="http://schemas.microsoft.com/office/drawing/2014/main" id="{3BEB3353-768B-5AE4-51D5-DDA4CFD8764B}"/>
              </a:ext>
            </a:extLst>
          </p:cNvPr>
          <p:cNvSpPr txBox="1"/>
          <p:nvPr/>
        </p:nvSpPr>
        <p:spPr>
          <a:xfrm>
            <a:off x="7588795" y="4699965"/>
            <a:ext cx="1001868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Amax</a:t>
            </a: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Alves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DevOps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" name="Google Shape;275;p40">
            <a:extLst>
              <a:ext uri="{FF2B5EF4-FFF2-40B4-BE49-F238E27FC236}">
                <a16:creationId xmlns:a16="http://schemas.microsoft.com/office/drawing/2014/main" id="{220F9EE1-B8A8-EED2-7ADA-748EC3042669}"/>
              </a:ext>
            </a:extLst>
          </p:cNvPr>
          <p:cNvSpPr txBox="1"/>
          <p:nvPr/>
        </p:nvSpPr>
        <p:spPr>
          <a:xfrm>
            <a:off x="3316037" y="1879934"/>
            <a:ext cx="1249411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Alline </a:t>
            </a:r>
            <a:r>
              <a:rPr lang="en-US" sz="7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Leite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Gerente </a:t>
            </a:r>
            <a:r>
              <a:rPr lang="pt-BR" sz="7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Sr</a:t>
            </a: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Comercial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" name="Google Shape;275;p40">
            <a:extLst>
              <a:ext uri="{FF2B5EF4-FFF2-40B4-BE49-F238E27FC236}">
                <a16:creationId xmlns:a16="http://schemas.microsoft.com/office/drawing/2014/main" id="{56009B12-59F5-A0AF-76D1-81BDCA33C52A}"/>
              </a:ext>
            </a:extLst>
          </p:cNvPr>
          <p:cNvSpPr txBox="1"/>
          <p:nvPr/>
        </p:nvSpPr>
        <p:spPr>
          <a:xfrm>
            <a:off x="4336979" y="1879933"/>
            <a:ext cx="1565310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Bruna </a:t>
            </a:r>
            <a:r>
              <a:rPr lang="pt-BR" sz="7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Nicolleti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Coordenadora Comercial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" name="Google Shape;275;p40">
            <a:extLst>
              <a:ext uri="{FF2B5EF4-FFF2-40B4-BE49-F238E27FC236}">
                <a16:creationId xmlns:a16="http://schemas.microsoft.com/office/drawing/2014/main" id="{F673BDC7-F68C-5D4E-3956-9AB6F12C7BB7}"/>
              </a:ext>
            </a:extLst>
          </p:cNvPr>
          <p:cNvSpPr txBox="1"/>
          <p:nvPr/>
        </p:nvSpPr>
        <p:spPr>
          <a:xfrm>
            <a:off x="5795946" y="1879933"/>
            <a:ext cx="1001868" cy="46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Romeu Santiago</a:t>
            </a:r>
            <a:b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700" dirty="0" err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Product</a:t>
            </a:r>
            <a:r>
              <a:rPr lang="pt-BR" sz="700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Manager </a:t>
            </a:r>
            <a:endParaRPr lang="pt-BR" sz="8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" name="Google Shape;685;gb538ab4eb2_0_746">
            <a:extLst>
              <a:ext uri="{FF2B5EF4-FFF2-40B4-BE49-F238E27FC236}">
                <a16:creationId xmlns:a16="http://schemas.microsoft.com/office/drawing/2014/main" id="{1D94C318-6F68-E438-4804-A183E4FAAC2D}"/>
              </a:ext>
            </a:extLst>
          </p:cNvPr>
          <p:cNvSpPr txBox="1"/>
          <p:nvPr/>
        </p:nvSpPr>
        <p:spPr>
          <a:xfrm>
            <a:off x="4336979" y="150575"/>
            <a:ext cx="1387401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E62263"/>
                </a:solidFill>
                <a:latin typeface="Poppins"/>
                <a:ea typeface="Poppins SemiBold"/>
                <a:cs typeface="Poppins"/>
                <a:sym typeface="Poppins"/>
              </a:rPr>
              <a:t>Nosso Time</a:t>
            </a:r>
            <a:endParaRPr sz="1600" i="0" u="none" strike="noStrike" cap="none" dirty="0">
              <a:solidFill>
                <a:srgbClr val="E6226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565651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88351E-4EBB-4A08-B5E0-CEF6EB96DC8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pt-BR" smtClean="0"/>
              <a:pPr/>
              <a:t>33</a:t>
            </a:fld>
            <a:endParaRPr lang="pt-BR"/>
          </a:p>
        </p:txBody>
      </p:sp>
      <p:pic>
        <p:nvPicPr>
          <p:cNvPr id="4" name="Google Shape;202;p7">
            <a:extLst>
              <a:ext uri="{FF2B5EF4-FFF2-40B4-BE49-F238E27FC236}">
                <a16:creationId xmlns:a16="http://schemas.microsoft.com/office/drawing/2014/main" id="{04EB2F4E-9B41-B95C-CA6A-489741F9AD7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33371" t="55115" r="19103" b="11535"/>
          <a:stretch/>
        </p:blipFill>
        <p:spPr>
          <a:xfrm>
            <a:off x="1" y="2"/>
            <a:ext cx="897307" cy="134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01;p7">
            <a:extLst>
              <a:ext uri="{FF2B5EF4-FFF2-40B4-BE49-F238E27FC236}">
                <a16:creationId xmlns:a16="http://schemas.microsoft.com/office/drawing/2014/main" id="{55E96EE5-9986-0D2B-CEE9-28C581F5709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1116" t="47853" b="21143"/>
          <a:stretch/>
        </p:blipFill>
        <p:spPr>
          <a:xfrm>
            <a:off x="877" y="2"/>
            <a:ext cx="1092986" cy="153824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71;p50">
            <a:extLst>
              <a:ext uri="{FF2B5EF4-FFF2-40B4-BE49-F238E27FC236}">
                <a16:creationId xmlns:a16="http://schemas.microsoft.com/office/drawing/2014/main" id="{4B9D27A4-F677-1060-4C5E-A5F1FC6946AA}"/>
              </a:ext>
            </a:extLst>
          </p:cNvPr>
          <p:cNvSpPr txBox="1"/>
          <p:nvPr/>
        </p:nvSpPr>
        <p:spPr>
          <a:xfrm>
            <a:off x="4838562" y="1488640"/>
            <a:ext cx="4203080" cy="296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[JICA] SP 23.2.1 – Entregamos 51 pontos (10 pontos foram de atendimento a incidentes)</a:t>
            </a: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0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[JICA] SP 23.2.2 – Entregamos 11 pontos</a:t>
            </a: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0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[JICA] SP 23.2.3 Entregamos  20 pontos</a:t>
            </a: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endParaRPr lang="pt-BR" sz="10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[JICA] SP 23.2.4 Entregamos 31 pontos</a:t>
            </a: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0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indent="-171450">
              <a:lnSpc>
                <a:spcPct val="115000"/>
              </a:lnSpc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[JICA] SP 23.2.5 Entregamos 25 pontos</a:t>
            </a:r>
          </a:p>
          <a:p>
            <a:pPr marL="171450" indent="-171450">
              <a:lnSpc>
                <a:spcPct val="115000"/>
              </a:lnSpc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0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indent="-171450">
              <a:lnSpc>
                <a:spcPct val="115000"/>
              </a:lnSpc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[JICA] SP 23.2.6 Entregamos 29 pontos</a:t>
            </a:r>
          </a:p>
          <a:p>
            <a:pPr marL="171450" indent="-171450">
              <a:lnSpc>
                <a:spcPct val="115000"/>
              </a:lnSpc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0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indent="-171450">
              <a:lnSpc>
                <a:spcPct val="115000"/>
              </a:lnSpc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[JICA] SP 23.2.7 Entregamos 17 pontos</a:t>
            </a:r>
          </a:p>
          <a:p>
            <a:pPr marL="171450" indent="-171450">
              <a:lnSpc>
                <a:spcPct val="115000"/>
              </a:lnSpc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indent="-171450">
              <a:lnSpc>
                <a:spcPct val="115000"/>
              </a:lnSpc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1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1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371;p50">
            <a:extLst>
              <a:ext uri="{FF2B5EF4-FFF2-40B4-BE49-F238E27FC236}">
                <a16:creationId xmlns:a16="http://schemas.microsoft.com/office/drawing/2014/main" id="{893B7F54-0390-8C3A-B88B-ADBDA66F010E}"/>
              </a:ext>
            </a:extLst>
          </p:cNvPr>
          <p:cNvSpPr txBox="1"/>
          <p:nvPr/>
        </p:nvSpPr>
        <p:spPr>
          <a:xfrm>
            <a:off x="278798" y="1488640"/>
            <a:ext cx="4203080" cy="296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[JICA] SP 23.1.1 – Entregamos 30 pontos </a:t>
            </a: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0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[JICA] SP 23.1.2 – Entregamos 32 pontos</a:t>
            </a: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endParaRPr lang="pt-BR" sz="10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[JICA] SP 23.1.3 Entregamos 25 pontos</a:t>
            </a: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endParaRPr lang="pt-BR" sz="10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[JICA] SP 23.1.4 Entregamos 31 pontos</a:t>
            </a: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0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indent="-171450">
              <a:lnSpc>
                <a:spcPct val="115000"/>
              </a:lnSpc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[JICA] SP 23.1.5 Entregamos 18 pontos</a:t>
            </a:r>
          </a:p>
          <a:p>
            <a:pPr marL="171450" indent="-171450">
              <a:lnSpc>
                <a:spcPct val="115000"/>
              </a:lnSpc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indent="-171450">
              <a:lnSpc>
                <a:spcPct val="115000"/>
              </a:lnSpc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1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1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37987677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88351E-4EBB-4A08-B5E0-CEF6EB96DC8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pt-BR" smtClean="0"/>
              <a:pPr/>
              <a:t>34</a:t>
            </a:fld>
            <a:endParaRPr lang="pt-BR"/>
          </a:p>
        </p:txBody>
      </p:sp>
      <p:pic>
        <p:nvPicPr>
          <p:cNvPr id="4" name="Google Shape;202;p7">
            <a:extLst>
              <a:ext uri="{FF2B5EF4-FFF2-40B4-BE49-F238E27FC236}">
                <a16:creationId xmlns:a16="http://schemas.microsoft.com/office/drawing/2014/main" id="{04EB2F4E-9B41-B95C-CA6A-489741F9AD7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33371" t="55115" r="19103" b="11535"/>
          <a:stretch/>
        </p:blipFill>
        <p:spPr>
          <a:xfrm>
            <a:off x="1" y="2"/>
            <a:ext cx="897307" cy="134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01;p7">
            <a:extLst>
              <a:ext uri="{FF2B5EF4-FFF2-40B4-BE49-F238E27FC236}">
                <a16:creationId xmlns:a16="http://schemas.microsoft.com/office/drawing/2014/main" id="{55E96EE5-9986-0D2B-CEE9-28C581F5709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1116" t="47853" b="21143"/>
          <a:stretch/>
        </p:blipFill>
        <p:spPr>
          <a:xfrm>
            <a:off x="877" y="2"/>
            <a:ext cx="1092986" cy="153824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1;p50">
            <a:extLst>
              <a:ext uri="{FF2B5EF4-FFF2-40B4-BE49-F238E27FC236}">
                <a16:creationId xmlns:a16="http://schemas.microsoft.com/office/drawing/2014/main" id="{893B7F54-0390-8C3A-B88B-ADBDA66F010E}"/>
              </a:ext>
            </a:extLst>
          </p:cNvPr>
          <p:cNvSpPr txBox="1"/>
          <p:nvPr/>
        </p:nvSpPr>
        <p:spPr>
          <a:xfrm>
            <a:off x="278798" y="1488640"/>
            <a:ext cx="4203080" cy="296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[JICA] SP 23.3.1 – Entregamos 39 pontos </a:t>
            </a: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0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[JICA] SP 23.3.2 – Entregamos 35 pontos</a:t>
            </a: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endParaRPr lang="pt-BR" sz="10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[JICA] SP 23.3.3 - Entregamos 59 pontos</a:t>
            </a: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endParaRPr lang="pt-BR" sz="10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[JICA] SP 23.3.4 - Entregamos 24 pontos</a:t>
            </a: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0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indent="-171450">
              <a:lnSpc>
                <a:spcPct val="115000"/>
              </a:lnSpc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[JICA] SP 23.3.5 - Entregamos 24 pontos</a:t>
            </a:r>
          </a:p>
          <a:p>
            <a:pPr marL="171450" indent="-171450">
              <a:lnSpc>
                <a:spcPct val="115000"/>
              </a:lnSpc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indent="-171450">
              <a:lnSpc>
                <a:spcPct val="115000"/>
              </a:lnSpc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1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100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004830050"/>
      </p:ext>
    </p:extLst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e29df64-75ee-4003-be03-1a8868a3a08e">
      <UserInfo>
        <DisplayName>Rogerio Athayde de Almeida</DisplayName>
        <AccountId>36</AccountId>
        <AccountType/>
      </UserInfo>
      <UserInfo>
        <DisplayName>Alexandre Tadeu Prieto Reis</DisplayName>
        <AccountId>9</AccountId>
        <AccountType/>
      </UserInfo>
      <UserInfo>
        <DisplayName>Susan Carvalho Lessa Holanda</DisplayName>
        <AccountId>12</AccountId>
        <AccountType/>
      </UserInfo>
      <UserInfo>
        <DisplayName>Rafael da Camara Figueredo</DisplayName>
        <AccountId>13</AccountId>
        <AccountType/>
      </UserInfo>
    </SharedWithUsers>
    <lcf76f155ced4ddcb4097134ff3c332f xmlns="af0f9abc-664a-4472-9a8b-4b9f75417d52">
      <Terms xmlns="http://schemas.microsoft.com/office/infopath/2007/PartnerControls"/>
    </lcf76f155ced4ddcb4097134ff3c332f>
    <TaxCatchAll xmlns="ae29df64-75ee-4003-be03-1a8868a3a08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BBA8A8FCE7024429BEB9AD185A3A235" ma:contentTypeVersion="11" ma:contentTypeDescription="Criar um novo documento." ma:contentTypeScope="" ma:versionID="4d8d1e37f76b5d18af6975400820bb3d">
  <xsd:schema xmlns:xsd="http://www.w3.org/2001/XMLSchema" xmlns:xs="http://www.w3.org/2001/XMLSchema" xmlns:p="http://schemas.microsoft.com/office/2006/metadata/properties" xmlns:ns2="af0f9abc-664a-4472-9a8b-4b9f75417d52" xmlns:ns3="ae29df64-75ee-4003-be03-1a8868a3a08e" targetNamespace="http://schemas.microsoft.com/office/2006/metadata/properties" ma:root="true" ma:fieldsID="79076b6729e96f44a0d0f09e51d82fca" ns2:_="" ns3:_="">
    <xsd:import namespace="af0f9abc-664a-4472-9a8b-4b9f75417d52"/>
    <xsd:import namespace="ae29df64-75ee-4003-be03-1a8868a3a0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0f9abc-664a-4472-9a8b-4b9f75417d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m" ma:readOnly="false" ma:fieldId="{5cf76f15-5ced-4ddc-b409-7134ff3c332f}" ma:taxonomyMulti="true" ma:sspId="6ea70a5e-26f1-456f-9626-5d88e3c64fd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29df64-75ee-4003-be03-1a8868a3a08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02607222-835e-48ec-b294-5497dbb5dcaf}" ma:internalName="TaxCatchAll" ma:showField="CatchAllData" ma:web="ae29df64-75ee-4003-be03-1a8868a3a0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A56FA3-D52E-48D4-91FD-5772CAB9F67F}">
  <ds:schemaRefs>
    <ds:schemaRef ds:uri="af0f9abc-664a-4472-9a8b-4b9f75417d52"/>
    <ds:schemaRef ds:uri="ae29df64-75ee-4003-be03-1a8868a3a08e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A538792-2820-4420-A7A7-9093E2BDF4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f0f9abc-664a-4472-9a8b-4b9f75417d52"/>
    <ds:schemaRef ds:uri="ae29df64-75ee-4003-be03-1a8868a3a0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A524AD1-C0DD-4FAE-8392-FD8562CB8F0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1860</TotalTime>
  <Words>1930</Words>
  <Application>Microsoft Office PowerPoint</Application>
  <PresentationFormat>Apresentação na tela (16:9)</PresentationFormat>
  <Paragraphs>335</Paragraphs>
  <Slides>34</Slides>
  <Notes>32</Notes>
  <HiddenSlides>18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42" baseType="lpstr">
      <vt:lpstr>Poppins</vt:lpstr>
      <vt:lpstr>Calibri</vt:lpstr>
      <vt:lpstr>Graphik Black</vt:lpstr>
      <vt:lpstr>Graphik</vt:lpstr>
      <vt:lpstr>Arial</vt:lpstr>
      <vt:lpstr>Poppins SemiBold</vt:lpstr>
      <vt:lpstr>Tema do Office</vt:lpstr>
      <vt:lpstr>think-cell Slide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Abordagem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André Lima</dc:creator>
  <cp:lastModifiedBy>Filippe Saba</cp:lastModifiedBy>
  <cp:revision>7</cp:revision>
  <dcterms:modified xsi:type="dcterms:W3CDTF">2023-09-06T14:34:49Z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0x0101005BBA8A8FCE7024429BEB9AD185A3A235</vt:lpwstr>
  </property>
</Properties>
</file>